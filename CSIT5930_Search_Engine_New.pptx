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5E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CSIT5930 · SEARCH ENGINE TECHNOLOGIES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Engine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E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Crawling  ·  Dual Inverted Index  ·  TF-IDF Ranking  ·  Phrase Search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3200400"/>
            <a:ext cx="2743200" cy="9144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Hong Kong University of Science and Technology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1417320"/>
            <a:ext cx="3840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</a:rPr>
              <a:t>Four Core Modules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46B4A"/>
                </a:solidFill>
              </a:rPr>
              <a:t>Crawler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BFS crawling from seed URL (up to 300 pages)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46B4A"/>
                </a:solidFill>
              </a:rPr>
              <a:t>Indexer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Text preprocessing, dual inverted index construction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46B4A"/>
                </a:solidFill>
              </a:rPr>
              <a:t>Search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Query parsing, TF-IDF scoring, cosine similarity ranking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46B4A"/>
                </a:solidFill>
              </a:rPr>
              <a:t>Web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JSP-based UI for query input and result display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303520" y="1463040"/>
            <a:ext cx="17373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46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352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0352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303520" y="2286000"/>
            <a:ext cx="17373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46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0" y="2286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0352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▼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303520" y="3108960"/>
            <a:ext cx="17373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3D7A6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JDBM Storage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303520" y="3566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▼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303520" y="3840480"/>
            <a:ext cx="17373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46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303520" y="3840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Engine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269480" y="3840480"/>
            <a:ext cx="17373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46B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269480" y="3840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303520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HTrees · All Data Persisted to Disk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 — SLIDE 1 OF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Database File Structure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35661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url2id / id2url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8745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URL ↔ PageID mapping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6012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parentLinks / childLinks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60120" y="26517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graph relationships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60120" y="3154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titleIndex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60120" y="34290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inverted index (stem → PostingList)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6012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bodyIndex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0120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inverted index (stem → PostingList)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63440" y="1417320"/>
            <a:ext cx="37490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892040" y="20116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</a:rPr>
              <a:t>PostingList Structure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HashMap&lt;PageID, PostingEntry&gt;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</a:rPr>
              <a:t>PostingEntry fields: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  pageId, termFrequency, maxTermFrequency, positions[]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46B4A"/>
                </a:solidFill>
              </a:rPr>
              <a:t>Two independent inverted indexes for title and body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 — SLIDE 2 OF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Algorithms — Text Preprocessing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508760"/>
            <a:ext cx="14630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234440" y="1691640"/>
            <a:ext cx="457200" cy="457200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9" name="Text 6"/>
          <p:cNvSpPr/>
          <p:nvPr/>
        </p:nvSpPr>
        <p:spPr>
          <a:xfrm>
            <a:off x="12344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2296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text to lowercase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194560" y="17830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99999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377440" y="1508760"/>
            <a:ext cx="14630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80360" y="1691640"/>
            <a:ext cx="457200" cy="457200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15" name="Text 12"/>
          <p:cNvSpPr/>
          <p:nvPr/>
        </p:nvSpPr>
        <p:spPr>
          <a:xfrm>
            <a:off x="2880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46888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2468880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non-alphabetic chars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840480" y="17830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99999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023360" y="1508760"/>
            <a:ext cx="14630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26280" y="1691640"/>
            <a:ext cx="457200" cy="457200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21" name="Text 18"/>
          <p:cNvSpPr/>
          <p:nvPr/>
        </p:nvSpPr>
        <p:spPr>
          <a:xfrm>
            <a:off x="45262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11480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114800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using stopwords.txt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86400" y="17830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99999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669280" y="1508760"/>
            <a:ext cx="14630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172200" y="1691640"/>
            <a:ext cx="457200" cy="457200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27" name="Text 24"/>
          <p:cNvSpPr/>
          <p:nvPr/>
        </p:nvSpPr>
        <p:spPr>
          <a:xfrm>
            <a:off x="61722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576072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Stemming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760720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 Stemming Algorithm (Lab3)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132320" y="17830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99999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15200" y="1508760"/>
            <a:ext cx="14630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818120" y="1691640"/>
            <a:ext cx="457200" cy="457200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33" name="Text 30"/>
          <p:cNvSpPr/>
          <p:nvPr/>
        </p:nvSpPr>
        <p:spPr>
          <a:xfrm>
            <a:off x="7818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40664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406640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position for phrase search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31520" y="3291840"/>
            <a:ext cx="7680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960120" y="3429000"/>
            <a:ext cx="7223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6B4A"/>
                </a:solidFill>
              </a:rPr>
              <a:t>Key Design Decision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Dual pipeline — same preprocessing at both index time and query time, guaranteeing stem consistency.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Position tracking enables phrase search across both title and body indexes.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 — SLIDE 3 OF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Algorithms — TF-IDF &amp; Cosine Similarity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384048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3383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TF-IDF Formula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</a:rPr>
              <a:t>TF-IDF = (tf / max_tf) × ln(N / df)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tf = term frequency · max_tf = max TF across terms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N = total docs · df = doc frequency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846320" y="1417320"/>
            <a:ext cx="35661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074920" y="155448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Cosine Similarity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</a:rPr>
              <a:t>cos(q, d) = (q · d) / (|q| × |d|)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Query and document as TF-IDF weight vectors.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83280"/>
            <a:ext cx="76809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" y="352044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Title Boost Mechanism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</a:rPr>
              <a:t>effective_weight = body_tfidf + title_tfidf × TITLE_BOOST_FACTOR (3.0)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Title matches are weighted 3× over body matches to improve precision.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 — SLIDE 4 OF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Algorithms — Phrase Search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1325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Example:  "hong kong" university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1874520"/>
            <a:ext cx="7680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1947672"/>
            <a:ext cx="347472" cy="347472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947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63040" y="1920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834640" y="19202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quoted phrases and bare keywords from query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2542032"/>
            <a:ext cx="347472" cy="347472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2542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63040" y="25146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2834640" y="25146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posting lists for each phrase token from both indexes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1520" y="3063240"/>
            <a:ext cx="7680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914400" y="3136392"/>
            <a:ext cx="347472" cy="347472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20" name="Text 17"/>
          <p:cNvSpPr/>
          <p:nvPr/>
        </p:nvSpPr>
        <p:spPr>
          <a:xfrm>
            <a:off x="914400" y="3136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463040" y="31089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2834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candidate documents common to all phrase-term posting lists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14400" y="3730752"/>
            <a:ext cx="347472" cy="347472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25" name="Text 22"/>
          <p:cNvSpPr/>
          <p:nvPr/>
        </p:nvSpPr>
        <p:spPr>
          <a:xfrm>
            <a:off x="914400" y="3730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463040" y="3703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2834640" y="37033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consecutive positions: pos(term[i+1]) == pos(term[i]) + 1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31520" y="4297680"/>
            <a:ext cx="76809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60120" y="440740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ranking: phrase matches + regular term TF-IDF scores merged by Ranker. Both title and body indexes searched.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— SLIDE 1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Crawling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41148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Breadth-First Search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Starting from a configurable seed URL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Queue-based traversal ensures breadth-first ordering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Stops when MAX_CRAWL_PAGES (300) reached or queue exhausted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Periodic JDBM commits every 10 pages for crash recovery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120640" y="1417320"/>
            <a:ext cx="3291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349240" y="1554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Per-Page Process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40680" y="2011680"/>
            <a:ext cx="201168" cy="201168"/>
          </a:xfrm>
          <a:prstGeom prst="oval">
            <a:avLst/>
          </a:prstGeom>
          <a:solidFill>
            <a:srgbClr val="F5E1D9"/>
          </a:solidFill>
          <a:ln/>
        </p:spPr>
      </p:sp>
      <p:sp>
        <p:nvSpPr>
          <p:cNvPr id="12" name="Text 9"/>
          <p:cNvSpPr/>
          <p:nvPr/>
        </p:nvSpPr>
        <p:spPr>
          <a:xfrm>
            <a:off x="5440680" y="20116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76072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URL (3 checks)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40680" y="2340864"/>
            <a:ext cx="201168" cy="201168"/>
          </a:xfrm>
          <a:prstGeom prst="oval">
            <a:avLst/>
          </a:prstGeom>
          <a:solidFill>
            <a:srgbClr val="F5E1D9"/>
          </a:solidFill>
          <a:ln/>
        </p:spPr>
      </p:sp>
      <p:sp>
        <p:nvSpPr>
          <p:cNvPr id="15" name="Text 12"/>
          <p:cNvSpPr/>
          <p:nvPr/>
        </p:nvSpPr>
        <p:spPr>
          <a:xfrm>
            <a:off x="5440680" y="23408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60720" y="22951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request (Last-Modified)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40680" y="2670048"/>
            <a:ext cx="201168" cy="201168"/>
          </a:xfrm>
          <a:prstGeom prst="oval">
            <a:avLst/>
          </a:prstGeom>
          <a:solidFill>
            <a:srgbClr val="F5E1D9"/>
          </a:solidFill>
          <a:ln/>
        </p:spPr>
      </p:sp>
      <p:sp>
        <p:nvSpPr>
          <p:cNvPr id="18" name="Text 15"/>
          <p:cNvSpPr/>
          <p:nvPr/>
        </p:nvSpPr>
        <p:spPr>
          <a:xfrm>
            <a:off x="5440680" y="267004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760720" y="26243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page body (HTML)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40680" y="2999232"/>
            <a:ext cx="201168" cy="201168"/>
          </a:xfrm>
          <a:prstGeom prst="oval">
            <a:avLst/>
          </a:prstGeom>
          <a:solidFill>
            <a:srgbClr val="F5E1D9"/>
          </a:solidFill>
          <a:ln/>
        </p:spPr>
      </p:sp>
      <p:sp>
        <p:nvSpPr>
          <p:cNvPr id="21" name="Text 18"/>
          <p:cNvSpPr/>
          <p:nvPr/>
        </p:nvSpPr>
        <p:spPr>
          <a:xfrm>
            <a:off x="5440680" y="29992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760720" y="29535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page content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40680" y="3328416"/>
            <a:ext cx="201168" cy="201168"/>
          </a:xfrm>
          <a:prstGeom prst="oval">
            <a:avLst/>
          </a:prstGeom>
          <a:solidFill>
            <a:srgbClr val="F5E1D9"/>
          </a:solidFill>
          <a:ln/>
        </p:spPr>
      </p:sp>
      <p:sp>
        <p:nvSpPr>
          <p:cNvPr id="24" name="Text 21"/>
          <p:cNvSpPr/>
          <p:nvPr/>
        </p:nvSpPr>
        <p:spPr>
          <a:xfrm>
            <a:off x="5440680" y="3328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760720" y="32826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Enqueue child links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31520" y="3794760"/>
            <a:ext cx="76809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1097280" y="3886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097280" y="4343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Pages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3017520" y="3886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017520" y="4343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937760" y="3886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4937760" y="4343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Interval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858000" y="3886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URL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858000" y="4343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Point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— SLIDE 2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Pre-Crawl Validation — Three Checks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63040"/>
            <a:ext cx="4846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55448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Link Protection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55448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URL already processed to prevent infinite loops.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2468880"/>
            <a:ext cx="4846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" y="256032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55448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Existence Check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5544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if URL not yet in JDBM index — always index new pages.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31520" y="3474720"/>
            <a:ext cx="4846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60120" y="3566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554480" y="3566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Update Check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554480" y="3886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HTTP Last-Modified; skip if unchanged.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852160" y="1463040"/>
            <a:ext cx="25603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080760" y="164592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46B4A"/>
                </a:solidFill>
              </a:rPr>
              <a:t>Fallback Logic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41413"/>
                </a:solidFill>
              </a:rPr>
              <a:t>No Last-Modified header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→ Use current time (always re-index)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41413"/>
                </a:solidFill>
              </a:rPr>
              <a:t>No Content-Length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→ Derive size from HTML content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— SLIDE 3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Extraction &amp; Link Graph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38404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Metadata per Page</a:t>
            </a:r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Page title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Last-modified timestamp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Page size (bytes)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Top-5 stemmed keywords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846320" y="1417320"/>
            <a:ext cx="35661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074920" y="15544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Link Extraction</a:t>
            </a:r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HTMLParser 2.1 parses &lt;a href&gt; tags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Relative URLs resolved to absolute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PageID: sequential int via PageIDMapper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291840"/>
            <a:ext cx="7680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" y="3429000"/>
            <a:ext cx="7223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Link Graph Structure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childLinks: parent PageID → list of child PageIDs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parentLinks: child PageID → list of parent PageIDs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Enables PageRank computation and similar-page recommendation after crawl completes.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— SLIDE 4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Profiling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38404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Performance Overview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</a:rPr>
              <a:t>Total Time:</a:t>
            </a:r>
            <a:endParaRPr lang="en-US" sz="1500" dirty="0"/>
          </a:p>
          <a:p>
            <a:pPr indent="0" marL="0">
              <a:buNone/>
            </a:pPr>
            <a:r>
              <a:rPr lang="en-US" sz="2200" b="1" dirty="0">
                <a:solidFill>
                  <a:srgbClr val="D46B4A"/>
                </a:solidFill>
              </a:rPr>
              <a:t>~5,971 ms (~6 seconds)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</a:rPr>
              <a:t>Pages Crawled: 297  |  Throughput: ~49.7 pages/sec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</a:rPr>
              <a:t>Database Size: 18.7 MB  |  Links Discovered: 588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846320" y="1417320"/>
            <a:ext cx="356616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074920" y="1554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Breakdown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965960"/>
          <a:ext cx="3108960" cy="13716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Fetching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Indexing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Commits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773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Processing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31520" y="3703320"/>
            <a:ext cx="7680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960120" y="38404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* Performance varies with network speed. Zero errors encountered during test crawl.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— SLIDE 5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— PageRank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3474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Link-Based Authority Scoring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Computed after crawl completes using iterative power-iteration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</a:rPr>
              <a:t>Damping factor: 0.85  |  Convergence threshold: 1e-6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PR_WEIGHT configurable in Config.java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937760" y="1417320"/>
            <a:ext cx="34747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166360" y="15544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Blended Ranking Formula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</a:rPr>
              <a:t>final_score = cosine_similarity</a:t>
            </a:r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</a:rPr>
              <a:t>×(1 − PR_WEIGHT)</a:t>
            </a:r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</a:rPr>
              <a:t>+ pagerank × PR_WEIGHT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Authority pages rank higher for relevant queries.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520440"/>
            <a:ext cx="76809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" y="365760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46B4A"/>
                </a:solidFill>
              </a:rPr>
              <a:t>Practical Effect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Pages with many inbound links receive higher authority scores. The blend balances content relevance (TF-IDF) with link-based importance (PageRank) for more accurate ranking.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SLIDE 1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— Servlets &amp; JSP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393192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Backend Servlets</a:t>
            </a:r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41413"/>
                </a:solidFill>
              </a:rPr>
              <a:t>SearchServlet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Handles GET /search; invokes SearchEngine.search()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41413"/>
                </a:solidFill>
              </a:rPr>
              <a:t>KeywordBrowseServlet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GET /keywords — paginated keyword index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41413"/>
                </a:solidFill>
              </a:rPr>
              <a:t>SuggestServlet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GET /suggest — JSON autocomplete endpoint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937760" y="1417320"/>
            <a:ext cx="347472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166360" y="15544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Frontend &amp; Filter</a:t>
            </a:r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41413"/>
                </a:solidFill>
              </a:rPr>
              <a:t>CharacterEncodingFilter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Enforces UTF-8 on all requests/responses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41413"/>
                </a:solidFill>
              </a:rPr>
              <a:t>JSP Pages: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index.jsp (search form)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result.jsp (results)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keywords.jsp (browser)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749040"/>
            <a:ext cx="76809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" y="38862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46B4A"/>
                </a:solidFill>
              </a:rPr>
              <a:t>Data Flow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SearchServlet parses "query" param → SearchEngine.search() → forwards results/query/resultCount to result.jsp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SLIDE 2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Result Display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63040"/>
            <a:ext cx="768096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8E5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49961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Score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91840" y="149961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PageRank blend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31520" y="2029968"/>
            <a:ext cx="7680960" cy="475488"/>
          </a:xfrm>
          <a:prstGeom prst="rect">
            <a:avLst/>
          </a:prstGeom>
          <a:solidFill>
            <a:srgbClr val="FAF8F5"/>
          </a:solidFill>
          <a:ln w="3810">
            <a:solidFill>
              <a:srgbClr val="E8E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06654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Title + URL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291840" y="206654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link to original page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2596896"/>
            <a:ext cx="768096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8E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6334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91840" y="263347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Last-modified date, page size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31520" y="3163824"/>
            <a:ext cx="7680960" cy="475488"/>
          </a:xfrm>
          <a:prstGeom prst="rect">
            <a:avLst/>
          </a:prstGeom>
          <a:solidFill>
            <a:srgbClr val="FAF8F5"/>
          </a:solidFill>
          <a:ln w="3810">
            <a:solidFill>
              <a:srgbClr val="E8E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32004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Keywords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291840" y="32004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Stemmed keywords from metadata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31520" y="3730752"/>
            <a:ext cx="768096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8E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7673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Info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291840" y="37673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links and child links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31520" y="4297680"/>
            <a:ext cx="7680960" cy="475488"/>
          </a:xfrm>
          <a:prstGeom prst="rect">
            <a:avLst/>
          </a:prstGeom>
          <a:solidFill>
            <a:srgbClr val="FAF8F5"/>
          </a:solidFill>
          <a:ln w="3810">
            <a:solidFill>
              <a:srgbClr val="E8E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433425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291840" y="4334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"Get Similar Pages" button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31520" y="4892040"/>
            <a:ext cx="7680960" cy="1371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SLIDE 3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— Autocomplete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76809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Keyword Suggestions as User Types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</a:rPr>
              <a:t>SuggestServlet queries JDBM titleIndex and bodyIndex for prefix matches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</a:rPr>
              <a:t>Returns JSON array of matching stems, displayed as a dropdown below the search box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Improves discoverability — users can see indexed vocabulary before committing to a query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" y="3520440"/>
            <a:ext cx="36576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36576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6B4A"/>
                </a:solidFill>
              </a:rPr>
              <a:t>Technical Details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Endpoint: GET /suggest?q=prefix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Response format: JSON array of strings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3520440"/>
            <a:ext cx="37490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892040" y="36576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6B4A"/>
                </a:solidFill>
              </a:rPr>
              <a:t>User Experience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Real-time suggestions as you type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No full-page reload required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SLIDE 4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— Similar Pages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63040"/>
            <a:ext cx="7680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1545336"/>
            <a:ext cx="347472" cy="347472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1545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53619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clicks "Get Similar Pages"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31520" y="2121408"/>
            <a:ext cx="7680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203704"/>
            <a:ext cx="347472" cy="347472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2203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417320" y="219456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SimilarPageRecommender reads top-5 stored keywords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" y="2779776"/>
            <a:ext cx="7680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4400" y="2862072"/>
            <a:ext cx="347472" cy="347472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2862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417320" y="2852928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joined into automatic search query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31520" y="3438144"/>
            <a:ext cx="7680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14400" y="3520440"/>
            <a:ext cx="347472" cy="347472"/>
          </a:xfrm>
          <a:prstGeom prst="oval">
            <a:avLst/>
          </a:prstGeom>
          <a:solidFill>
            <a:srgbClr val="D46B4A"/>
          </a:solidFill>
          <a:ln/>
        </p:spPr>
      </p:sp>
      <p:sp>
        <p:nvSpPr>
          <p:cNvPr id="21" name="Text 18"/>
          <p:cNvSpPr/>
          <p:nvPr/>
        </p:nvSpPr>
        <p:spPr>
          <a:xfrm>
            <a:off x="914400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511296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display pages similar to selected page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31520" y="4206240"/>
            <a:ext cx="76809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960120" y="4325112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6B4A"/>
                </a:solidFill>
              </a:rPr>
              <a:t>Design Principle</a:t>
            </a:r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Fully reuses SearchEngine.search() — zero code duplication. Display query shows "Similar pages for: &lt;keywords&gt;"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SLIDE 5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— Query History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417320"/>
            <a:ext cx="38404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155448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Client-Side Storage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Recent searches stored in browser localStorage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Displayed on homepage below search box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Up to N recent queries shown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Oldest queries drop off automatically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846320" y="1417320"/>
            <a:ext cx="356616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074920" y="1554480"/>
            <a:ext cx="3108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6B4A"/>
                </a:solidFill>
              </a:rPr>
              <a:t>Privacy &amp; Simplicity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Client-side only — no server storage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</a:rPr>
              <a:t>Respects user privacy by default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Quick re-access without retyping previous queries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703320"/>
            <a:ext cx="76809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" y="384048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point: localStorage API provides persistent key-value store across browser sessions with no backend dependency.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508760"/>
            <a:ext cx="2606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1508760"/>
            <a:ext cx="54864" cy="1371600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1691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520440" y="1508760"/>
            <a:ext cx="2606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0440" y="1508760"/>
            <a:ext cx="54864" cy="1371600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13" name="Text 10"/>
          <p:cNvSpPr/>
          <p:nvPr/>
        </p:nvSpPr>
        <p:spPr>
          <a:xfrm>
            <a:off x="3703320" y="1691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 search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0332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"hong kong"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09360" y="1508760"/>
            <a:ext cx="2606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309360" y="1508760"/>
            <a:ext cx="54864" cy="1371600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17" name="Text 14"/>
          <p:cNvSpPr/>
          <p:nvPr/>
        </p:nvSpPr>
        <p:spPr>
          <a:xfrm>
            <a:off x="6492240" y="1691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query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mining" research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731520" y="3063240"/>
            <a:ext cx="2606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31520" y="3063240"/>
            <a:ext cx="54864" cy="1371600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21" name="Text 18"/>
          <p:cNvSpPr/>
          <p:nvPr/>
        </p:nvSpPr>
        <p:spPr>
          <a:xfrm>
            <a:off x="914400" y="3246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914400" y="3703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typing comp...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3520440" y="3063240"/>
            <a:ext cx="2606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520440" y="3063240"/>
            <a:ext cx="54864" cy="1371600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25" name="Text 22"/>
          <p:cNvSpPr/>
          <p:nvPr/>
        </p:nvSpPr>
        <p:spPr>
          <a:xfrm>
            <a:off x="3703320" y="3246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pages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703320" y="3703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"Get Similar Pages"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6309360" y="3063240"/>
            <a:ext cx="2606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309360" y="3063240"/>
            <a:ext cx="54864" cy="1371600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3246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browser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92240" y="3703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/keywords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&amp; 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548640"/>
            <a:ext cx="365760" cy="365760"/>
          </a:xfrm>
          <a:prstGeom prst="oval">
            <a:avLst/>
          </a:prstGeom>
          <a:solidFill>
            <a:srgbClr val="F5E1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7" y="614477"/>
            <a:ext cx="234086" cy="2340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32588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14400" y="14630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46B4A"/>
                </a:solidFill>
              </a:rPr>
              <a:t>System Strengths</a:t>
            </a:r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Complete assignment implementation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JDBM disk-based persistence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Accurate phrase search (position-based)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6B6B"/>
                </a:solidFill>
              </a:rPr>
              <a:t>Title boost + PageRank blend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Clean modular architecture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846320" y="1463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46B4A"/>
                </a:solidFill>
              </a:rPr>
              <a:t>Limitations</a:t>
            </a:r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Single-threaded crawler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No incremental index updates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846320" y="27432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46B4A"/>
                </a:solidFill>
              </a:rPr>
              <a:t>Future Improvements</a:t>
            </a:r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Multi-threaded / distributed crawling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HITS algorithm for hub/authority scoring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Snippet generation with highlighting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6B6B"/>
                </a:solidFill>
              </a:rPr>
              <a:t>Multi-language support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CSIT5930 Search Engine</dc:title>
  <dc:subject>PptxGenJS Presentation</dc:subject>
  <dc:creator>CSIT5930 Team</dc:creator>
  <cp:lastModifiedBy>CSIT5930 Team</cp:lastModifiedBy>
  <cp:revision>1</cp:revision>
  <dcterms:created xsi:type="dcterms:W3CDTF">2026-04-25T18:00:18Z</dcterms:created>
  <dcterms:modified xsi:type="dcterms:W3CDTF">2026-04-25T18:00:18Z</dcterms:modified>
</cp:coreProperties>
</file>