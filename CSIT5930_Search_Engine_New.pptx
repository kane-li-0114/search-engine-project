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4" r:id="rId18"/>
    <p:sldId id="272" r:id="rId19"/>
    <p:sldId id="273" r:id="rId2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69" d="100"/>
          <a:sy n="169" d="100"/>
        </p:scale>
        <p:origin x="192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982720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4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3.png"/><Relationship Id="rId4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3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15.png"/><Relationship Id="rId4" Type="http://schemas.openxmlformats.org/officeDocument/2006/relationships/image" Target="../media/image31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40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CSIT5930 · SEARCH ENGINE TECHNOLOGIES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155448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Search Engine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251460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BFS Crawling  ·  Dual Inverted Index  ·  TF-IDF Ranking  ·  Phrase Search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00400" y="3154680"/>
            <a:ext cx="2743200" cy="9144"/>
          </a:xfrm>
          <a:prstGeom prst="rect">
            <a:avLst/>
          </a:prstGeom>
          <a:solidFill>
            <a:srgbClr val="A8A29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731520" y="338328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Hong Kong University of Science and Technology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OVERVIEW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115568"/>
            <a:ext cx="1097280" cy="13716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502920" y="1554480"/>
            <a:ext cx="1691640" cy="19202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502920" y="1554480"/>
            <a:ext cx="1691640" cy="54864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640080" y="1942911"/>
            <a:ext cx="1417320" cy="332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Crawler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59742" y="2148840"/>
            <a:ext cx="109765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lnSpc>
                <a:spcPct val="140000"/>
              </a:lnSpc>
              <a:buNone/>
            </a:pPr>
            <a:r>
              <a:rPr lang="en-US" sz="105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BFS crawling</a:t>
            </a:r>
            <a:endParaRPr lang="en-US" sz="1050" dirty="0"/>
          </a:p>
          <a:p>
            <a:pPr marL="0" indent="0" algn="just">
              <a:lnSpc>
                <a:spcPct val="140000"/>
              </a:lnSpc>
              <a:buNone/>
            </a:pPr>
            <a:r>
              <a:rPr lang="en-US" sz="105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seed URL</a:t>
            </a:r>
            <a:endParaRPr lang="en-US" sz="1050" dirty="0"/>
          </a:p>
          <a:p>
            <a:pPr marL="0" indent="0" algn="just">
              <a:lnSpc>
                <a:spcPct val="140000"/>
              </a:lnSpc>
              <a:buNone/>
            </a:pPr>
            <a:r>
              <a:rPr lang="en-US" sz="105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(up to 300 pages)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577096" y="1554480"/>
            <a:ext cx="1691640" cy="19202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9"/>
          <p:cNvSpPr/>
          <p:nvPr/>
        </p:nvSpPr>
        <p:spPr>
          <a:xfrm>
            <a:off x="2577096" y="1554480"/>
            <a:ext cx="1691640" cy="54864"/>
          </a:xfrm>
          <a:prstGeom prst="rect">
            <a:avLst/>
          </a:prstGeom>
          <a:solidFill>
            <a:srgbClr val="B4530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2714256" y="194805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Indexer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917010" y="2148840"/>
            <a:ext cx="121456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lnSpc>
                <a:spcPct val="140000"/>
              </a:lnSpc>
              <a:buNone/>
            </a:pPr>
            <a:r>
              <a:rPr lang="en-US" sz="105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 preprocessing</a:t>
            </a:r>
            <a:endParaRPr lang="en-US" sz="1050" dirty="0"/>
          </a:p>
          <a:p>
            <a:pPr marL="0" indent="0" algn="just">
              <a:lnSpc>
                <a:spcPct val="140000"/>
              </a:lnSpc>
              <a:buNone/>
            </a:pPr>
            <a:r>
              <a:rPr lang="en-US" sz="105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dual inverted</a:t>
            </a:r>
            <a:endParaRPr lang="en-US" sz="1050" dirty="0"/>
          </a:p>
          <a:p>
            <a:pPr marL="0" indent="0" algn="just">
              <a:lnSpc>
                <a:spcPct val="140000"/>
              </a:lnSpc>
              <a:buNone/>
            </a:pPr>
            <a:r>
              <a:rPr lang="en-US" sz="105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 construction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651272" y="1554480"/>
            <a:ext cx="1691640" cy="19202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4651272" y="1554480"/>
            <a:ext cx="1691640" cy="54864"/>
          </a:xfrm>
          <a:prstGeom prst="rect">
            <a:avLst/>
          </a:prstGeom>
          <a:solidFill>
            <a:srgbClr val="0369A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4788432" y="1925492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085876" y="2148840"/>
            <a:ext cx="111987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lnSpc>
                <a:spcPct val="140000"/>
              </a:lnSpc>
              <a:buNone/>
            </a:pPr>
            <a:r>
              <a:rPr lang="en-US" sz="105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 parsing</a:t>
            </a:r>
            <a:endParaRPr lang="en-US" sz="1050" dirty="0"/>
          </a:p>
          <a:p>
            <a:pPr marL="0" indent="0" algn="just">
              <a:lnSpc>
                <a:spcPct val="140000"/>
              </a:lnSpc>
              <a:buNone/>
            </a:pPr>
            <a:r>
              <a:rPr lang="en-US" sz="105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TF-IDF scoring</a:t>
            </a:r>
            <a:endParaRPr lang="en-US" sz="1050" dirty="0"/>
          </a:p>
          <a:p>
            <a:pPr marL="0" indent="0" algn="just">
              <a:lnSpc>
                <a:spcPct val="140000"/>
              </a:lnSpc>
              <a:buNone/>
            </a:pPr>
            <a:r>
              <a:rPr lang="en-US" sz="105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cosine similarity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914373" y="1554480"/>
            <a:ext cx="1691640" cy="19202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7"/>
          <p:cNvSpPr/>
          <p:nvPr/>
        </p:nvSpPr>
        <p:spPr>
          <a:xfrm>
            <a:off x="6914373" y="1554480"/>
            <a:ext cx="1691640" cy="54864"/>
          </a:xfrm>
          <a:prstGeom prst="rect">
            <a:avLst/>
          </a:prstGeom>
          <a:solidFill>
            <a:srgbClr val="0284C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7051533" y="1925492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7307641" y="2148840"/>
            <a:ext cx="1161211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lnSpc>
                <a:spcPct val="140000"/>
              </a:lnSpc>
              <a:buNone/>
            </a:pPr>
            <a:r>
              <a:rPr lang="en-US" sz="105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JSP-based UI</a:t>
            </a:r>
            <a:endParaRPr lang="en-US" sz="1050" dirty="0"/>
          </a:p>
          <a:p>
            <a:pPr marL="0" indent="0" algn="just">
              <a:lnSpc>
                <a:spcPct val="140000"/>
              </a:lnSpc>
              <a:buNone/>
            </a:pPr>
            <a:r>
              <a:rPr lang="en-US" sz="105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query input</a:t>
            </a:r>
            <a:endParaRPr lang="en-US" sz="1050" dirty="0"/>
          </a:p>
          <a:p>
            <a:pPr marL="0" indent="0" algn="just">
              <a:lnSpc>
                <a:spcPct val="140000"/>
              </a:lnSpc>
              <a:buNone/>
            </a:pPr>
            <a:r>
              <a:rPr lang="en-US" sz="105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result display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157984" y="2305875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78716C"/>
                </a:solidFill>
              </a:rPr>
              <a:t>→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4345515" y="228600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78716C"/>
                </a:solidFill>
              </a:rPr>
              <a:t>→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525489" y="2293557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78716C"/>
                </a:solidFill>
              </a:rPr>
              <a:t>→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502920" y="4081548"/>
            <a:ext cx="8138160" cy="5029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6" name="Shape 24"/>
          <p:cNvSpPr/>
          <p:nvPr/>
        </p:nvSpPr>
        <p:spPr>
          <a:xfrm>
            <a:off x="502920" y="4081548"/>
            <a:ext cx="54864" cy="502920"/>
          </a:xfrm>
          <a:prstGeom prst="rect">
            <a:avLst/>
          </a:prstGeom>
          <a:solidFill>
            <a:srgbClr val="1E1E1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777240" y="408154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JDBM Storage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2834640" y="4081548"/>
            <a:ext cx="5577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HTrees · All data persisted to disk · Bidirectional URL↔PageID mapping · Link graph storage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173984" y="3621477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8716C"/>
                </a:solidFill>
              </a:rPr>
              <a:t>▼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321690" y="3621477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8716C"/>
                </a:solidFill>
              </a:rPr>
              <a:t>▼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416497" y="3621477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8716C"/>
                </a:solidFill>
              </a:rPr>
              <a:t>▲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617102" y="3621477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8716C"/>
                </a:solidFill>
              </a:rPr>
              <a:t>▲</a:t>
            </a:r>
            <a:endParaRPr lang="en-US" sz="1200" dirty="0"/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" y="1672974"/>
            <a:ext cx="228600" cy="228600"/>
          </a:xfrm>
          <a:prstGeom prst="rect">
            <a:avLst/>
          </a:prstGeom>
        </p:spPr>
      </p:pic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08616" y="1672974"/>
            <a:ext cx="228600" cy="228600"/>
          </a:xfrm>
          <a:prstGeom prst="rect">
            <a:avLst/>
          </a:prstGeom>
        </p:spPr>
      </p:pic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82792" y="1713065"/>
            <a:ext cx="228600" cy="228600"/>
          </a:xfrm>
          <a:prstGeom prst="rect">
            <a:avLst/>
          </a:prstGeom>
        </p:spPr>
      </p:pic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39962" y="1672974"/>
            <a:ext cx="228600" cy="228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INDEXER — SLIDE 1 OF 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 Database File Structure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115568"/>
            <a:ext cx="1097280" cy="13716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4389120" cy="438912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502920" y="1417320"/>
            <a:ext cx="68580" cy="438912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667512" y="145389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url2id / id2url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67512" y="1636776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Bidirectional URL ↔ PageID mapping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02920" y="1911096"/>
            <a:ext cx="4389120" cy="438912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9"/>
          <p:cNvSpPr/>
          <p:nvPr/>
        </p:nvSpPr>
        <p:spPr>
          <a:xfrm>
            <a:off x="502920" y="1911096"/>
            <a:ext cx="68580" cy="438912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667512" y="194767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parentLinks / childLinks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" y="2130552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 graph (child-to-parent / parent-to-child)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02920" y="2404872"/>
            <a:ext cx="4389120" cy="438912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502920" y="2404872"/>
            <a:ext cx="68580" cy="438912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667512" y="244144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titleIndex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67512" y="2624328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 inverted index (stem → PostingList)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02920" y="2898648"/>
            <a:ext cx="4389120" cy="438912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7"/>
          <p:cNvSpPr/>
          <p:nvPr/>
        </p:nvSpPr>
        <p:spPr>
          <a:xfrm>
            <a:off x="502920" y="2898648"/>
            <a:ext cx="68580" cy="438912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667512" y="2935224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bodyIndex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67512" y="3118104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Body inverted index (stem → PostingList)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02920" y="3392424"/>
            <a:ext cx="4389120" cy="438912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3" name="Shape 21"/>
          <p:cNvSpPr/>
          <p:nvPr/>
        </p:nvSpPr>
        <p:spPr>
          <a:xfrm>
            <a:off x="502920" y="3392424"/>
            <a:ext cx="68580" cy="438912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667512" y="342900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pageMetadata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67512" y="3611880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title, size, last-modified, top-keywords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02920" y="3886200"/>
            <a:ext cx="4389120" cy="438912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7" name="Shape 25"/>
          <p:cNvSpPr/>
          <p:nvPr/>
        </p:nvSpPr>
        <p:spPr>
          <a:xfrm>
            <a:off x="502920" y="3886200"/>
            <a:ext cx="68580" cy="438912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/>
          <p:nvPr/>
        </p:nvSpPr>
        <p:spPr>
          <a:xfrm>
            <a:off x="667512" y="392277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systemConfig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67512" y="4105656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Counters: totalDocs, nextPageId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257800" y="1417320"/>
            <a:ext cx="3383280" cy="28803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1" name="Shape 29"/>
          <p:cNvSpPr/>
          <p:nvPr/>
        </p:nvSpPr>
        <p:spPr>
          <a:xfrm>
            <a:off x="5257800" y="1417320"/>
            <a:ext cx="3383280" cy="54864"/>
          </a:xfrm>
          <a:prstGeom prst="rect">
            <a:avLst/>
          </a:prstGeom>
          <a:solidFill>
            <a:srgbClr val="B4530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2" name="Text 30"/>
          <p:cNvSpPr/>
          <p:nvPr/>
        </p:nvSpPr>
        <p:spPr>
          <a:xfrm>
            <a:off x="5440680" y="158191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PostingList Structure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577840" y="199339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pageId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995160" y="1993392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integer identifier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577840" y="2340864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termFrequency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995160" y="2340864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 count in document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577840" y="2688336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maxTermFrequency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995160" y="2688336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 TF across all terms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577840" y="303580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positions[]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995160" y="3035808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offset array for phrase search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440680" y="361188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HashMap&lt;PageID, PostingEntry&gt;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440680" y="38404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independent inverted indexes for title and body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INDEXER — SLIDE 2 OF 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Algorithms — Text Preprocessing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115568"/>
            <a:ext cx="1097280" cy="13716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699516" y="1554480"/>
            <a:ext cx="141732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1152144" y="1645920"/>
            <a:ext cx="512064" cy="512064"/>
          </a:xfrm>
          <a:prstGeom prst="line">
            <a:avLst/>
          </a:prstGeom>
          <a:solidFill>
            <a:srgbClr val="B4530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1152144" y="164592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09244" y="2286000"/>
            <a:ext cx="1197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Lowercase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09244" y="2578608"/>
            <a:ext cx="1197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Convert all text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lowercase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281428" y="1554480"/>
            <a:ext cx="141732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10"/>
          <p:cNvSpPr/>
          <p:nvPr/>
        </p:nvSpPr>
        <p:spPr>
          <a:xfrm>
            <a:off x="2734056" y="1645920"/>
            <a:ext cx="512064" cy="512064"/>
          </a:xfrm>
          <a:prstGeom prst="line">
            <a:avLst/>
          </a:prstGeom>
          <a:solidFill>
            <a:srgbClr val="B4530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2734056" y="164592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391156" y="2286000"/>
            <a:ext cx="1197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Tokenize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391156" y="2578608"/>
            <a:ext cx="1197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Split by non-alphabetic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characters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863340" y="1554480"/>
            <a:ext cx="141732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5"/>
          <p:cNvSpPr/>
          <p:nvPr/>
        </p:nvSpPr>
        <p:spPr>
          <a:xfrm>
            <a:off x="4315968" y="1645920"/>
            <a:ext cx="512064" cy="512064"/>
          </a:xfrm>
          <a:prstGeom prst="line">
            <a:avLst/>
          </a:prstGeom>
          <a:solidFill>
            <a:srgbClr val="B4530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4315968" y="164592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3973068" y="2286000"/>
            <a:ext cx="1197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Stopwords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973068" y="2578608"/>
            <a:ext cx="1197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 using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stopwords.txt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445252" y="1554480"/>
            <a:ext cx="141732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2" name="Shape 20"/>
          <p:cNvSpPr/>
          <p:nvPr/>
        </p:nvSpPr>
        <p:spPr>
          <a:xfrm>
            <a:off x="5897880" y="1645920"/>
            <a:ext cx="512064" cy="512064"/>
          </a:xfrm>
          <a:prstGeom prst="line">
            <a:avLst/>
          </a:prstGeom>
          <a:solidFill>
            <a:srgbClr val="B4530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5897880" y="164592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554980" y="2286000"/>
            <a:ext cx="1197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Stemming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554980" y="2578608"/>
            <a:ext cx="1197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Porter Stemming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Algorithm (Lab3)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7027164" y="1554480"/>
            <a:ext cx="141732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7" name="Shape 25"/>
          <p:cNvSpPr/>
          <p:nvPr/>
        </p:nvSpPr>
        <p:spPr>
          <a:xfrm>
            <a:off x="7479792" y="1645920"/>
            <a:ext cx="512064" cy="512064"/>
          </a:xfrm>
          <a:prstGeom prst="line">
            <a:avLst/>
          </a:prstGeom>
          <a:solidFill>
            <a:srgbClr val="B4530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/>
          <p:nvPr/>
        </p:nvSpPr>
        <p:spPr>
          <a:xfrm>
            <a:off x="7479792" y="164592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7136892" y="2286000"/>
            <a:ext cx="1197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7136892" y="2578608"/>
            <a:ext cx="1197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 position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phrase search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2043684" y="219456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78716C"/>
                </a:solidFill>
              </a:rPr>
              <a:t>→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3625596" y="219456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78716C"/>
                </a:solidFill>
              </a:rPr>
              <a:t>→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207508" y="219456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78716C"/>
                </a:solidFill>
              </a:rPr>
              <a:t>→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789420" y="219456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78716C"/>
                </a:solidFill>
              </a:rPr>
              <a:t>→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502920" y="3474720"/>
            <a:ext cx="813816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6" name="Shape 34"/>
          <p:cNvSpPr/>
          <p:nvPr/>
        </p:nvSpPr>
        <p:spPr>
          <a:xfrm>
            <a:off x="502920" y="3474720"/>
            <a:ext cx="68580" cy="868680"/>
          </a:xfrm>
          <a:prstGeom prst="rect">
            <a:avLst/>
          </a:prstGeom>
          <a:solidFill>
            <a:srgbClr val="0369A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7" name="Text 35"/>
          <p:cNvSpPr/>
          <p:nvPr/>
        </p:nvSpPr>
        <p:spPr>
          <a:xfrm>
            <a:off x="777240" y="354787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Design Decision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77240" y="3822192"/>
            <a:ext cx="7589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Dual pipeline — same preprocessing applied consistently at both index time and query time, guaranteeing stem consistency.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777240" y="4050792"/>
            <a:ext cx="7589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 tracking enables phrase search across both title and body indexes.</a:t>
            </a:r>
            <a:endParaRPr lang="en-US" sz="950" dirty="0"/>
          </a:p>
        </p:txBody>
      </p:sp>
      <p:pic>
        <p:nvPicPr>
          <p:cNvPr id="40" name="Picture 39" descr="arrow-down-a-z-amber.png">
            <a:extLst>
              <a:ext uri="{FF2B5EF4-FFF2-40B4-BE49-F238E27FC236}">
                <a16:creationId xmlns:a16="http://schemas.microsoft.com/office/drawing/2014/main" id="{094ED28D-2A0E-7FA2-5859-FE13708D1A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2753" y="1770459"/>
            <a:ext cx="320040" cy="320040"/>
          </a:xfrm>
          <a:prstGeom prst="rect">
            <a:avLst/>
          </a:prstGeom>
        </p:spPr>
      </p:pic>
      <p:pic>
        <p:nvPicPr>
          <p:cNvPr id="41" name="Picture 40" descr="scissors-blue.png">
            <a:extLst>
              <a:ext uri="{FF2B5EF4-FFF2-40B4-BE49-F238E27FC236}">
                <a16:creationId xmlns:a16="http://schemas.microsoft.com/office/drawing/2014/main" id="{702BE499-6111-E849-6B92-80C73C6962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24665" y="1770459"/>
            <a:ext cx="320040" cy="320040"/>
          </a:xfrm>
          <a:prstGeom prst="rect">
            <a:avLst/>
          </a:prstGeom>
        </p:spPr>
      </p:pic>
      <p:pic>
        <p:nvPicPr>
          <p:cNvPr id="42" name="Picture 41" descr="filter-amber.png">
            <a:extLst>
              <a:ext uri="{FF2B5EF4-FFF2-40B4-BE49-F238E27FC236}">
                <a16:creationId xmlns:a16="http://schemas.microsoft.com/office/drawing/2014/main" id="{613A2CE1-5B7A-4D4F-2658-14CD05CA4C3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06577" y="1770459"/>
            <a:ext cx="320040" cy="320040"/>
          </a:xfrm>
          <a:prstGeom prst="rect">
            <a:avLst/>
          </a:prstGeom>
        </p:spPr>
      </p:pic>
      <p:pic>
        <p:nvPicPr>
          <p:cNvPr id="43" name="Picture 42" descr="cog-blue.png">
            <a:extLst>
              <a:ext uri="{FF2B5EF4-FFF2-40B4-BE49-F238E27FC236}">
                <a16:creationId xmlns:a16="http://schemas.microsoft.com/office/drawing/2014/main" id="{0D33BD5E-F63C-70AE-BF35-6429204A432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88489" y="1770459"/>
            <a:ext cx="320040" cy="320040"/>
          </a:xfrm>
          <a:prstGeom prst="rect">
            <a:avLst/>
          </a:prstGeom>
        </p:spPr>
      </p:pic>
      <p:pic>
        <p:nvPicPr>
          <p:cNvPr id="44" name="Picture 43" descr="map-pin-amber.png">
            <a:extLst>
              <a:ext uri="{FF2B5EF4-FFF2-40B4-BE49-F238E27FC236}">
                <a16:creationId xmlns:a16="http://schemas.microsoft.com/office/drawing/2014/main" id="{AD3F3344-3670-C74B-BFBF-0610B98AACE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70401" y="1770459"/>
            <a:ext cx="320040" cy="3200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INDEXER — SLIDE 3 OF 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Algorithms — TF-IDF &amp; Cosine Similarity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115568"/>
            <a:ext cx="1097280" cy="13716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3931920" cy="196206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502920" y="1417320"/>
            <a:ext cx="3931920" cy="54864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685800" y="157276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TF-IDF Formula</a:t>
            </a:r>
            <a:endParaRPr lang="en-US" sz="1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 7"/>
              <p:cNvSpPr/>
              <p:nvPr/>
            </p:nvSpPr>
            <p:spPr>
              <a:xfrm>
                <a:off x="685800" y="1920240"/>
                <a:ext cx="3566160" cy="4572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1" i="1" dirty="0" smtClean="0">
                          <a:solidFill>
                            <a:srgbClr val="B45309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𝑻𝑭</m:t>
                      </m:r>
                      <m:r>
                        <a:rPr lang="en-US" sz="1400" b="1" i="1" dirty="0" smtClean="0">
                          <a:solidFill>
                            <a:srgbClr val="B45309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−</m:t>
                      </m:r>
                      <m:r>
                        <a:rPr lang="en-US" sz="1400" b="1" i="1" dirty="0" smtClean="0">
                          <a:solidFill>
                            <a:srgbClr val="B45309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𝑰𝑫𝑭</m:t>
                      </m:r>
                      <m:r>
                        <a:rPr lang="en-US" sz="1400" b="1" i="1" dirty="0" smtClean="0">
                          <a:solidFill>
                            <a:srgbClr val="B45309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 = (</m:t>
                      </m:r>
                      <m:r>
                        <a:rPr lang="en-US" sz="1400" b="1" i="1" dirty="0" smtClean="0">
                          <a:solidFill>
                            <a:srgbClr val="B45309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𝒕𝒇</m:t>
                      </m:r>
                      <m:r>
                        <a:rPr lang="en-US" sz="1400" b="1" i="1" dirty="0" smtClean="0">
                          <a:solidFill>
                            <a:srgbClr val="B45309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 / </m:t>
                      </m:r>
                      <m:r>
                        <m:rPr>
                          <m:sty m:val="p"/>
                        </m:rPr>
                        <a:rPr lang="en-US" sz="1400" b="1" i="1" dirty="0" smtClean="0">
                          <a:solidFill>
                            <a:srgbClr val="B45309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max</m:t>
                      </m:r>
                      <m:r>
                        <a:rPr lang="en-US" sz="1400" b="1" i="1" dirty="0" smtClean="0">
                          <a:solidFill>
                            <a:srgbClr val="B45309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⁡_</m:t>
                      </m:r>
                      <m:r>
                        <a:rPr lang="en-US" sz="1400" b="1" i="1" dirty="0" smtClean="0">
                          <a:solidFill>
                            <a:srgbClr val="B45309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𝒕𝒇</m:t>
                      </m:r>
                      <m:r>
                        <a:rPr lang="en-US" sz="1400" b="1" i="1" dirty="0" smtClean="0">
                          <a:solidFill>
                            <a:srgbClr val="B45309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) × </m:t>
                      </m:r>
                      <m:r>
                        <m:rPr>
                          <m:sty m:val="p"/>
                        </m:rPr>
                        <a:rPr lang="en-US" sz="1400" b="1" i="1" dirty="0" smtClean="0">
                          <a:solidFill>
                            <a:srgbClr val="B45309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ln</m:t>
                      </m:r>
                      <m:r>
                        <a:rPr lang="en-US" sz="1400" b="1" i="1" dirty="0" smtClean="0">
                          <a:solidFill>
                            <a:srgbClr val="B45309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⁡(</m:t>
                      </m:r>
                      <m:r>
                        <a:rPr lang="en-US" sz="1400" b="1" i="1" dirty="0" smtClean="0">
                          <a:solidFill>
                            <a:srgbClr val="B45309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𝑵</m:t>
                      </m:r>
                      <m:r>
                        <a:rPr lang="en-US" sz="1400" b="1" i="1" dirty="0" smtClean="0">
                          <a:solidFill>
                            <a:srgbClr val="B45309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 / </m:t>
                      </m:r>
                      <m:r>
                        <a:rPr lang="en-US" sz="1400" b="1" i="1" dirty="0" smtClean="0">
                          <a:solidFill>
                            <a:srgbClr val="B45309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𝒅𝒇</m:t>
                      </m:r>
                      <m:r>
                        <a:rPr lang="en-US" sz="1400" b="1" i="1" dirty="0" smtClean="0">
                          <a:solidFill>
                            <a:srgbClr val="B45309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)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9" name="Text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800" y="1920240"/>
                <a:ext cx="3566160" cy="4572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 8"/>
          <p:cNvSpPr/>
          <p:nvPr/>
        </p:nvSpPr>
        <p:spPr>
          <a:xfrm>
            <a:off x="685800" y="2331720"/>
            <a:ext cx="3566160" cy="886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tf = term frequency in document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max_tf = max term frequency across all terms in document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= total documents  |  df = document frequency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709160" y="1417320"/>
            <a:ext cx="3931920" cy="196206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10"/>
          <p:cNvSpPr/>
          <p:nvPr/>
        </p:nvSpPr>
        <p:spPr>
          <a:xfrm>
            <a:off x="4709160" y="1417320"/>
            <a:ext cx="3931920" cy="54864"/>
          </a:xfrm>
          <a:prstGeom prst="rect">
            <a:avLst/>
          </a:prstGeom>
          <a:solidFill>
            <a:srgbClr val="0369A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4892040" y="157276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Cosine Similarity</a:t>
            </a:r>
            <a:endParaRPr lang="en-US" sz="1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 12"/>
              <p:cNvSpPr/>
              <p:nvPr/>
            </p:nvSpPr>
            <p:spPr>
              <a:xfrm>
                <a:off x="4892040" y="1920240"/>
                <a:ext cx="3566160" cy="4572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600" b="1" i="1" dirty="0" smtClean="0">
                          <a:solidFill>
                            <a:srgbClr val="0369A1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cos</m:t>
                      </m:r>
                      <m:r>
                        <a:rPr lang="en-US" sz="1600" b="1" i="1" dirty="0" smtClean="0">
                          <a:solidFill>
                            <a:srgbClr val="0369A1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⁡(</m:t>
                      </m:r>
                      <m:r>
                        <a:rPr lang="en-US" sz="1600" b="1" i="1" dirty="0" smtClean="0">
                          <a:solidFill>
                            <a:srgbClr val="0369A1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𝒒</m:t>
                      </m:r>
                      <m:r>
                        <a:rPr lang="en-US" sz="1600" b="1" i="1" dirty="0" smtClean="0">
                          <a:solidFill>
                            <a:srgbClr val="0369A1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, </m:t>
                      </m:r>
                      <m:r>
                        <a:rPr lang="en-US" sz="1600" b="1" i="1" dirty="0" smtClean="0">
                          <a:solidFill>
                            <a:srgbClr val="0369A1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𝒅</m:t>
                      </m:r>
                      <m:r>
                        <a:rPr lang="en-US" sz="1600" b="1" i="1" dirty="0" smtClean="0">
                          <a:solidFill>
                            <a:srgbClr val="0369A1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) = (</m:t>
                      </m:r>
                      <m:r>
                        <a:rPr lang="en-US" sz="1600" b="1" i="1" dirty="0" smtClean="0">
                          <a:solidFill>
                            <a:srgbClr val="0369A1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𝒒</m:t>
                      </m:r>
                      <m:r>
                        <a:rPr lang="en-US" sz="1600" b="1" i="1" dirty="0" smtClean="0">
                          <a:solidFill>
                            <a:srgbClr val="0369A1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 · </m:t>
                      </m:r>
                      <m:r>
                        <a:rPr lang="en-US" sz="1600" b="1" i="1" dirty="0" smtClean="0">
                          <a:solidFill>
                            <a:srgbClr val="0369A1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𝒅</m:t>
                      </m:r>
                      <m:r>
                        <a:rPr lang="en-US" sz="1600" b="1" i="1" dirty="0" smtClean="0">
                          <a:solidFill>
                            <a:srgbClr val="0369A1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) / (|</m:t>
                      </m:r>
                      <m:r>
                        <a:rPr lang="en-US" sz="1600" b="1" i="1" dirty="0" smtClean="0">
                          <a:solidFill>
                            <a:srgbClr val="0369A1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𝒒</m:t>
                      </m:r>
                      <m:r>
                        <a:rPr lang="en-US" sz="1600" b="1" i="1" dirty="0" smtClean="0">
                          <a:solidFill>
                            <a:srgbClr val="0369A1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| × |</m:t>
                      </m:r>
                      <m:r>
                        <a:rPr lang="en-US" sz="1600" b="1" i="1" dirty="0" smtClean="0">
                          <a:solidFill>
                            <a:srgbClr val="0369A1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𝒅</m:t>
                      </m:r>
                      <m:r>
                        <a:rPr lang="en-US" sz="1600" b="1" i="1" dirty="0" smtClean="0">
                          <a:solidFill>
                            <a:srgbClr val="0369A1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|)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4" name="Text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92040" y="1920240"/>
                <a:ext cx="3566160" cy="457200"/>
              </a:xfrm>
              <a:prstGeom prst="rect">
                <a:avLst/>
              </a:prstGeom>
              <a:blipFill>
                <a:blip r:embed="rId4"/>
                <a:stretch>
                  <a:fillRect b="-2703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 13"/>
          <p:cNvSpPr/>
          <p:nvPr/>
        </p:nvSpPr>
        <p:spPr>
          <a:xfrm>
            <a:off x="4892040" y="2377440"/>
            <a:ext cx="3566160" cy="841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 and document represented as TF-IDF weight vectors in the vector space model.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" y="3593364"/>
            <a:ext cx="813816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5"/>
          <p:cNvSpPr/>
          <p:nvPr/>
        </p:nvSpPr>
        <p:spPr>
          <a:xfrm>
            <a:off x="502920" y="3593364"/>
            <a:ext cx="54864" cy="1051560"/>
          </a:xfrm>
          <a:prstGeom prst="rect">
            <a:avLst/>
          </a:prstGeom>
          <a:solidFill>
            <a:srgbClr val="B4530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777240" y="3684804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 Boost Mechanism</a:t>
            </a:r>
            <a:endParaRPr lang="en-US" sz="1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 17"/>
              <p:cNvSpPr/>
              <p:nvPr/>
            </p:nvSpPr>
            <p:spPr>
              <a:xfrm>
                <a:off x="777240" y="4004844"/>
                <a:ext cx="7589520" cy="27432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1" i="1" dirty="0" smtClean="0">
                          <a:solidFill>
                            <a:srgbClr val="B45309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𝒆𝒇𝒇𝒆𝒄𝒕𝒊𝒗𝒆</m:t>
                      </m:r>
                      <m:r>
                        <a:rPr lang="en-US" sz="1400" b="1" i="1" dirty="0" smtClean="0">
                          <a:solidFill>
                            <a:srgbClr val="B45309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_</m:t>
                      </m:r>
                      <m:r>
                        <a:rPr lang="en-US" sz="1400" b="1" i="1" dirty="0" smtClean="0">
                          <a:solidFill>
                            <a:srgbClr val="B45309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𝒘𝒆𝒊𝒈𝒉𝒕</m:t>
                      </m:r>
                      <m:r>
                        <a:rPr lang="en-US" sz="1400" b="1" i="1" dirty="0" smtClean="0">
                          <a:solidFill>
                            <a:srgbClr val="B45309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 = </m:t>
                      </m:r>
                      <m:r>
                        <a:rPr lang="en-US" sz="1400" b="1" i="1" dirty="0" smtClean="0">
                          <a:solidFill>
                            <a:srgbClr val="B45309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𝒃𝒐𝒅𝒚</m:t>
                      </m:r>
                      <m:r>
                        <a:rPr lang="en-US" sz="1400" b="1" i="1" dirty="0" smtClean="0">
                          <a:solidFill>
                            <a:srgbClr val="B45309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_</m:t>
                      </m:r>
                      <m:r>
                        <a:rPr lang="en-US" sz="1400" b="1" i="1" dirty="0" smtClean="0">
                          <a:solidFill>
                            <a:srgbClr val="B45309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𝒕𝒇𝒊𝒅𝒇</m:t>
                      </m:r>
                      <m:r>
                        <a:rPr lang="en-US" sz="1400" b="1" i="1" dirty="0" smtClean="0">
                          <a:solidFill>
                            <a:srgbClr val="B45309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 + </m:t>
                      </m:r>
                      <m:r>
                        <a:rPr lang="en-US" sz="1400" b="1" i="1" dirty="0" smtClean="0">
                          <a:solidFill>
                            <a:srgbClr val="B45309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𝒕𝒊𝒕𝒍𝒆</m:t>
                      </m:r>
                      <m:r>
                        <a:rPr lang="en-US" sz="1400" b="1" i="1" dirty="0" smtClean="0">
                          <a:solidFill>
                            <a:srgbClr val="B45309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_</m:t>
                      </m:r>
                      <m:r>
                        <a:rPr lang="en-US" sz="1400" b="1" i="1" dirty="0" smtClean="0">
                          <a:solidFill>
                            <a:srgbClr val="B45309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𝒕𝒇𝒊𝒅𝒇</m:t>
                      </m:r>
                      <m:r>
                        <a:rPr lang="en-US" sz="1400" b="1" i="1" dirty="0" smtClean="0">
                          <a:solidFill>
                            <a:srgbClr val="B45309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 × </m:t>
                      </m:r>
                      <m:r>
                        <a:rPr lang="en-US" sz="1400" b="1" i="1" dirty="0" smtClean="0">
                          <a:solidFill>
                            <a:srgbClr val="B45309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𝑻𝑰𝑻𝑳𝑬</m:t>
                      </m:r>
                      <m:r>
                        <a:rPr lang="en-US" sz="1400" b="1" i="1" dirty="0" smtClean="0">
                          <a:solidFill>
                            <a:srgbClr val="B45309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_</m:t>
                      </m:r>
                      <m:r>
                        <a:rPr lang="en-US" sz="1400" b="1" i="1" dirty="0" smtClean="0">
                          <a:solidFill>
                            <a:srgbClr val="B45309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𝑩𝑶𝑶𝑺𝑻</m:t>
                      </m:r>
                      <m:r>
                        <a:rPr lang="en-US" sz="1400" b="1" i="1" dirty="0" smtClean="0">
                          <a:solidFill>
                            <a:srgbClr val="B45309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_</m:t>
                      </m:r>
                      <m:r>
                        <a:rPr lang="en-US" sz="1400" b="1" i="1" dirty="0" smtClean="0">
                          <a:solidFill>
                            <a:srgbClr val="B45309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𝑭𝑨𝑪𝑻𝑶𝑹</m:t>
                      </m:r>
                      <m:r>
                        <a:rPr lang="en-US" sz="1400" b="1" i="1" dirty="0" smtClean="0">
                          <a:solidFill>
                            <a:srgbClr val="B45309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 (</m:t>
                      </m:r>
                      <m:r>
                        <a:rPr lang="en-US" sz="1400" b="1" i="1" dirty="0" smtClean="0">
                          <a:solidFill>
                            <a:srgbClr val="B45309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𝟑</m:t>
                      </m:r>
                      <m:r>
                        <a:rPr lang="en-US" sz="1400" b="1" i="1" dirty="0" smtClean="0">
                          <a:solidFill>
                            <a:srgbClr val="B45309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.</m:t>
                      </m:r>
                      <m:r>
                        <a:rPr lang="en-US" sz="1400" b="1" i="1" dirty="0" smtClean="0">
                          <a:solidFill>
                            <a:srgbClr val="B45309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𝟎</m:t>
                      </m:r>
                      <m:r>
                        <a:rPr lang="en-US" sz="1400" b="1" i="1" dirty="0" smtClean="0">
                          <a:solidFill>
                            <a:srgbClr val="B45309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)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9" name="Text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7240" y="4004844"/>
                <a:ext cx="7589520" cy="274320"/>
              </a:xfrm>
              <a:prstGeom prst="rect">
                <a:avLst/>
              </a:prstGeom>
              <a:blipFill>
                <a:blip r:embed="rId5"/>
                <a:stretch>
                  <a:fillRect t="-9091" b="-31818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 18"/>
          <p:cNvSpPr/>
          <p:nvPr/>
        </p:nvSpPr>
        <p:spPr>
          <a:xfrm>
            <a:off x="777240" y="4324884"/>
            <a:ext cx="7589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 matches are weighted 3× over body matches to improve precision — words appearing in page titles are stronger relevance indicators.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INDEXER — SLIDE 4 OF 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Algorithms — Phrase Search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115568"/>
            <a:ext cx="1097280" cy="13716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502920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685800" y="1536192"/>
            <a:ext cx="402336" cy="402336"/>
          </a:xfrm>
          <a:prstGeom prst="line">
            <a:avLst/>
          </a:prstGeom>
          <a:solidFill>
            <a:srgbClr val="B4530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685800" y="153619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76121" y="1467801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Parse Query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76121" y="1705545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Parse quoted phrases and bare</a:t>
            </a:r>
            <a:r>
              <a:rPr lang="zh-CN" altLang="en-US" sz="1200" dirty="0"/>
              <a:t> </a:t>
            </a:r>
            <a:r>
              <a:rPr lang="en-US" sz="120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keywords from query string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02920" y="2194560"/>
            <a:ext cx="502920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10"/>
          <p:cNvSpPr/>
          <p:nvPr/>
        </p:nvSpPr>
        <p:spPr>
          <a:xfrm>
            <a:off x="685800" y="2313432"/>
            <a:ext cx="402336" cy="402336"/>
          </a:xfrm>
          <a:prstGeom prst="line">
            <a:avLst/>
          </a:prstGeom>
          <a:solidFill>
            <a:srgbClr val="B4530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685800" y="231343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76121" y="2245041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 Up Postings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76121" y="2482785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Retrieve posting lists for</a:t>
            </a:r>
            <a:r>
              <a:rPr lang="zh-CN" altLang="en-US" sz="1200" dirty="0"/>
              <a:t> </a:t>
            </a:r>
            <a:r>
              <a:rPr lang="en-US" sz="120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phrase token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02920" y="2971800"/>
            <a:ext cx="502920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5"/>
          <p:cNvSpPr/>
          <p:nvPr/>
        </p:nvSpPr>
        <p:spPr>
          <a:xfrm>
            <a:off x="685800" y="3090672"/>
            <a:ext cx="402336" cy="402336"/>
          </a:xfrm>
          <a:prstGeom prst="line">
            <a:avLst/>
          </a:prstGeom>
          <a:solidFill>
            <a:srgbClr val="B4530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685800" y="309067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76121" y="3022281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Candidates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76121" y="3260025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Intersect all phrase-term,</a:t>
            </a:r>
            <a:r>
              <a:rPr lang="zh-CN" altLang="en-US" sz="1200" dirty="0"/>
              <a:t> </a:t>
            </a:r>
            <a:r>
              <a:rPr lang="en-US" sz="120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posting lists → candidate docs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02920" y="3749040"/>
            <a:ext cx="502920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2" name="Shape 20"/>
          <p:cNvSpPr/>
          <p:nvPr/>
        </p:nvSpPr>
        <p:spPr>
          <a:xfrm>
            <a:off x="685800" y="3867912"/>
            <a:ext cx="402336" cy="402336"/>
          </a:xfrm>
          <a:prstGeom prst="line">
            <a:avLst/>
          </a:prstGeom>
          <a:solidFill>
            <a:srgbClr val="B4530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685800" y="386791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076121" y="3799521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 Positions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076120" y="4037265"/>
            <a:ext cx="428936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consecutive positions:</a:t>
            </a:r>
            <a:r>
              <a:rPr lang="en-US" sz="1200" dirty="0"/>
              <a:t> </a:t>
            </a:r>
            <a:r>
              <a:rPr lang="en-US" sz="120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pos(term[i+1]) = pos(term[i]) + 1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806440" y="1417320"/>
            <a:ext cx="2834640" cy="29718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7" name="Shape 25"/>
          <p:cNvSpPr/>
          <p:nvPr/>
        </p:nvSpPr>
        <p:spPr>
          <a:xfrm>
            <a:off x="5806440" y="1417320"/>
            <a:ext cx="2834640" cy="54864"/>
          </a:xfrm>
          <a:prstGeom prst="rect">
            <a:avLst/>
          </a:prstGeom>
          <a:solidFill>
            <a:srgbClr val="B4530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/>
          <p:nvPr/>
        </p:nvSpPr>
        <p:spPr>
          <a:xfrm>
            <a:off x="5989320" y="157276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989320" y="19202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"hong kong" university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989320" y="2240280"/>
            <a:ext cx="24688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50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Searches both title and body indexes for phrase matches</a:t>
            </a:r>
            <a:endParaRPr lang="en-US" sz="1100" dirty="0"/>
          </a:p>
          <a:p>
            <a:pPr marL="342900" indent="-342900">
              <a:lnSpc>
                <a:spcPct val="150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Position-based adjacency verification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Combined ranking with regular TF-IDF scores merged by Ranker</a:t>
            </a:r>
            <a:endParaRPr lang="en-US" sz="1100" dirty="0"/>
          </a:p>
        </p:txBody>
      </p:sp>
      <p:pic>
        <p:nvPicPr>
          <p:cNvPr id="31" name="Picture 30" descr="text-search-amber.png">
            <a:extLst>
              <a:ext uri="{FF2B5EF4-FFF2-40B4-BE49-F238E27FC236}">
                <a16:creationId xmlns:a16="http://schemas.microsoft.com/office/drawing/2014/main" id="{ADFA5E61-C610-4BA5-B6DF-AE75A26FFA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568197"/>
            <a:ext cx="265175" cy="265175"/>
          </a:xfrm>
          <a:prstGeom prst="rect">
            <a:avLst/>
          </a:prstGeom>
        </p:spPr>
      </p:pic>
      <p:pic>
        <p:nvPicPr>
          <p:cNvPr id="32" name="Picture 31" descr="image.png">
            <a:extLst>
              <a:ext uri="{FF2B5EF4-FFF2-40B4-BE49-F238E27FC236}">
                <a16:creationId xmlns:a16="http://schemas.microsoft.com/office/drawing/2014/main" id="{66E855C5-3F7E-CED9-3603-4DA1515CCF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243" y="2368107"/>
            <a:ext cx="265175" cy="265175"/>
          </a:xfrm>
          <a:prstGeom prst="rect">
            <a:avLst/>
          </a:prstGeom>
        </p:spPr>
      </p:pic>
      <p:pic>
        <p:nvPicPr>
          <p:cNvPr id="33" name="Picture 32" descr="git-branch-blue.png">
            <a:extLst>
              <a:ext uri="{FF2B5EF4-FFF2-40B4-BE49-F238E27FC236}">
                <a16:creationId xmlns:a16="http://schemas.microsoft.com/office/drawing/2014/main" id="{8B727A2F-6E0A-C94E-0406-81CBEABA6A0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3145348"/>
            <a:ext cx="265175" cy="265175"/>
          </a:xfrm>
          <a:prstGeom prst="rect">
            <a:avLst/>
          </a:prstGeom>
        </p:spPr>
      </p:pic>
      <p:pic>
        <p:nvPicPr>
          <p:cNvPr id="34" name="Picture 33" descr="check-amber.png">
            <a:extLst>
              <a:ext uri="{FF2B5EF4-FFF2-40B4-BE49-F238E27FC236}">
                <a16:creationId xmlns:a16="http://schemas.microsoft.com/office/drawing/2014/main" id="{914685B0-3F58-4438-CFFB-2FD38E94A95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3930145"/>
            <a:ext cx="265175" cy="26517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CRAWLER — SLIDE 1 OF 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BFS Crawling Strategy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115568"/>
            <a:ext cx="1097280" cy="13716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4114800" cy="1399032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502920" y="1417320"/>
            <a:ext cx="45720" cy="1380744"/>
          </a:xfrm>
          <a:prstGeom prst="rect">
            <a:avLst/>
          </a:prstGeom>
          <a:solidFill>
            <a:srgbClr val="0369A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731520" y="1508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Breadth-First Search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178308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00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Queue-based traversal from configurable seed URL</a:t>
            </a:r>
            <a:endParaRPr lang="en-US" sz="1000" dirty="0"/>
          </a:p>
          <a:p>
            <a:pPr marL="0" indent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00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Stops at MAX_CRAWL_PAGES (300) or when URL queue exhausted</a:t>
            </a:r>
            <a:endParaRPr lang="en-US" sz="1000" dirty="0"/>
          </a:p>
          <a:p>
            <a:pPr marL="0" indent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00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Periodic JDBM commits every 10 pages for crash recovery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892040" y="1417320"/>
            <a:ext cx="3749040" cy="2926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9"/>
          <p:cNvSpPr/>
          <p:nvPr/>
        </p:nvSpPr>
        <p:spPr>
          <a:xfrm>
            <a:off x="4892040" y="1417320"/>
            <a:ext cx="3749040" cy="54864"/>
          </a:xfrm>
          <a:prstGeom prst="rect">
            <a:avLst/>
          </a:prstGeom>
          <a:solidFill>
            <a:srgbClr val="0369A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5074920" y="157276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 Per Page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120640" y="2029968"/>
            <a:ext cx="292608" cy="292608"/>
          </a:xfrm>
          <a:prstGeom prst="line">
            <a:avLst/>
          </a:prstGeom>
          <a:solidFill>
            <a:srgbClr val="FEF3C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5120640" y="202996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532120" y="199339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 URL (3 pre-crawl checks)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257800" y="2340864"/>
            <a:ext cx="18288" cy="128016"/>
          </a:xfrm>
          <a:prstGeom prst="rect">
            <a:avLst/>
          </a:prstGeom>
          <a:solidFill>
            <a:srgbClr val="A8A29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5"/>
          <p:cNvSpPr/>
          <p:nvPr/>
        </p:nvSpPr>
        <p:spPr>
          <a:xfrm>
            <a:off x="5120640" y="2487168"/>
            <a:ext cx="292608" cy="292608"/>
          </a:xfrm>
          <a:prstGeom prst="line">
            <a:avLst/>
          </a:prstGeom>
          <a:solidFill>
            <a:srgbClr val="FEF3C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5120640" y="248716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532120" y="245059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 request to check Last-Modified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257800" y="2798064"/>
            <a:ext cx="18288" cy="128016"/>
          </a:xfrm>
          <a:prstGeom prst="rect">
            <a:avLst/>
          </a:prstGeom>
          <a:solidFill>
            <a:srgbClr val="A8A29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9"/>
          <p:cNvSpPr/>
          <p:nvPr/>
        </p:nvSpPr>
        <p:spPr>
          <a:xfrm>
            <a:off x="5120640" y="2944368"/>
            <a:ext cx="292608" cy="292608"/>
          </a:xfrm>
          <a:prstGeom prst="line">
            <a:avLst/>
          </a:prstGeom>
          <a:solidFill>
            <a:srgbClr val="FEF3C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5120640" y="294436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532120" y="290779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Fetch page body (HTML)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257800" y="3255264"/>
            <a:ext cx="18288" cy="128016"/>
          </a:xfrm>
          <a:prstGeom prst="rect">
            <a:avLst/>
          </a:prstGeom>
          <a:solidFill>
            <a:srgbClr val="A8A29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3"/>
          <p:cNvSpPr/>
          <p:nvPr/>
        </p:nvSpPr>
        <p:spPr>
          <a:xfrm>
            <a:off x="5120640" y="3401568"/>
            <a:ext cx="292608" cy="292608"/>
          </a:xfrm>
          <a:prstGeom prst="line">
            <a:avLst/>
          </a:prstGeom>
          <a:solidFill>
            <a:srgbClr val="FEF3C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5120640" y="340156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532120" y="336499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 page content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257800" y="3712464"/>
            <a:ext cx="18288" cy="128016"/>
          </a:xfrm>
          <a:prstGeom prst="rect">
            <a:avLst/>
          </a:prstGeom>
          <a:solidFill>
            <a:srgbClr val="A8A29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Shape 27"/>
          <p:cNvSpPr/>
          <p:nvPr/>
        </p:nvSpPr>
        <p:spPr>
          <a:xfrm>
            <a:off x="5120640" y="3858768"/>
            <a:ext cx="292608" cy="292608"/>
          </a:xfrm>
          <a:prstGeom prst="line">
            <a:avLst/>
          </a:prstGeom>
          <a:solidFill>
            <a:srgbClr val="FEF3C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8"/>
          <p:cNvSpPr/>
          <p:nvPr/>
        </p:nvSpPr>
        <p:spPr>
          <a:xfrm>
            <a:off x="5120640" y="385876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532120" y="382219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Enqueue child links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CRAWLER — SLIDE 2 OF 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Pre-Crawl Validation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115568"/>
            <a:ext cx="1097280" cy="13716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530352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685800" y="1600200"/>
            <a:ext cx="438912" cy="438912"/>
          </a:xfrm>
          <a:prstGeom prst="line">
            <a:avLst/>
          </a:prstGeom>
          <a:solidFill>
            <a:srgbClr val="04785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685800" y="160020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325880" y="149047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325880" y="169164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Circular Link Protection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325880" y="192024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Skip if URL already processed in this session — prevents infinite loops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02920" y="2377440"/>
            <a:ext cx="530352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1"/>
          <p:cNvSpPr/>
          <p:nvPr/>
        </p:nvSpPr>
        <p:spPr>
          <a:xfrm>
            <a:off x="685800" y="2560320"/>
            <a:ext cx="438912" cy="438912"/>
          </a:xfrm>
          <a:prstGeom prst="line">
            <a:avLst/>
          </a:prstGeom>
          <a:solidFill>
            <a:srgbClr val="04785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685800" y="256032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325880" y="245059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325880" y="265176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 Existence Check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325880" y="288036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Allow if URL not yet in JDBM index — new page always fetched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02920" y="3337560"/>
            <a:ext cx="530352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7"/>
          <p:cNvSpPr/>
          <p:nvPr/>
        </p:nvSpPr>
        <p:spPr>
          <a:xfrm>
            <a:off x="685800" y="3520440"/>
            <a:ext cx="438912" cy="438912"/>
          </a:xfrm>
          <a:prstGeom prst="line">
            <a:avLst/>
          </a:prstGeom>
          <a:solidFill>
            <a:srgbClr val="04785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685800" y="352044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325880" y="341071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3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325880" y="361188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Update Check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325880" y="384048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HTTP Last-Modified with stored timestamp; skip if unchanged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080760" y="1417320"/>
            <a:ext cx="2560320" cy="27889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3"/>
          <p:cNvSpPr/>
          <p:nvPr/>
        </p:nvSpPr>
        <p:spPr>
          <a:xfrm>
            <a:off x="6080760" y="1417320"/>
            <a:ext cx="2560320" cy="54864"/>
          </a:xfrm>
          <a:prstGeom prst="rect">
            <a:avLst/>
          </a:prstGeom>
          <a:solidFill>
            <a:srgbClr val="B4530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6263640" y="157276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Fallback Logic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143861" y="2011680"/>
            <a:ext cx="2314339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60000"/>
              </a:lnSpc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Last-Modified header → use current time (always re-index)</a:t>
            </a:r>
            <a:endParaRPr lang="en-US" sz="1050" dirty="0"/>
          </a:p>
          <a:p>
            <a:pPr marL="342900" indent="-342900">
              <a:lnSpc>
                <a:spcPct val="160000"/>
              </a:lnSpc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Content-Length → derive page size from HTML content length</a:t>
            </a:r>
            <a:endParaRPr lang="en-US" sz="1050" dirty="0"/>
          </a:p>
        </p:txBody>
      </p:sp>
      <p:pic>
        <p:nvPicPr>
          <p:cNvPr id="28" name="Picture 27" descr="shield-check-amber.png">
            <a:extLst>
              <a:ext uri="{FF2B5EF4-FFF2-40B4-BE49-F238E27FC236}">
                <a16:creationId xmlns:a16="http://schemas.microsoft.com/office/drawing/2014/main" id="{679BC809-8DDB-8D40-7811-8CE4E59EF3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" y="1673352"/>
            <a:ext cx="301752" cy="301752"/>
          </a:xfrm>
          <a:prstGeom prst="rect">
            <a:avLst/>
          </a:prstGeom>
        </p:spPr>
      </p:pic>
      <p:pic>
        <p:nvPicPr>
          <p:cNvPr id="29" name="Picture 28" descr="image.png">
            <a:extLst>
              <a:ext uri="{FF2B5EF4-FFF2-40B4-BE49-F238E27FC236}">
                <a16:creationId xmlns:a16="http://schemas.microsoft.com/office/drawing/2014/main" id="{4ED92094-680D-A65B-12CF-DA67F3F552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812" y="2633472"/>
            <a:ext cx="301752" cy="301752"/>
          </a:xfrm>
          <a:prstGeom prst="rect">
            <a:avLst/>
          </a:prstGeom>
        </p:spPr>
      </p:pic>
      <p:pic>
        <p:nvPicPr>
          <p:cNvPr id="30" name="Picture 29" descr="book-open-blue.png">
            <a:extLst>
              <a:ext uri="{FF2B5EF4-FFF2-40B4-BE49-F238E27FC236}">
                <a16:creationId xmlns:a16="http://schemas.microsoft.com/office/drawing/2014/main" id="{BFD1C1C5-27E7-8EF5-CBB1-3C176333AEB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1812" y="3593592"/>
            <a:ext cx="301752" cy="30175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CRAWLER — SLIDE 3 OF 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Metadata Extraction &amp; Link Graph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115568"/>
            <a:ext cx="1097280" cy="13716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4114800" cy="20000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502920" y="1417320"/>
            <a:ext cx="4114800" cy="54864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685800" y="157276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Metadata Per Page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85800" y="196596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title (extracted from HTML &lt;title&gt;)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85800" y="225856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Last-modified timestamp (from HTTP header)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85800" y="255117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size in bytes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85800" y="284378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Top-5 stemmed keywords for relevance feedback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892040" y="1417320"/>
            <a:ext cx="3749040" cy="20000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2"/>
          <p:cNvSpPr/>
          <p:nvPr/>
        </p:nvSpPr>
        <p:spPr>
          <a:xfrm>
            <a:off x="4892040" y="1417320"/>
            <a:ext cx="3749040" cy="54864"/>
          </a:xfrm>
          <a:prstGeom prst="rect">
            <a:avLst/>
          </a:prstGeom>
          <a:solidFill>
            <a:srgbClr val="0369A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5074920" y="157276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 Graph Structure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074920" y="1965960"/>
            <a:ext cx="3383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childLinks: parent PageID → list of child PageIDs</a:t>
            </a:r>
            <a:endParaRPr lang="en-US" sz="1000" dirty="0"/>
          </a:p>
          <a:p>
            <a:pPr marL="0" indent="0">
              <a:lnSpc>
                <a:spcPct val="1400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parentLinks: child PageID → list of parent PageIDs</a:t>
            </a:r>
            <a:endParaRPr lang="en-US" sz="1000" dirty="0"/>
          </a:p>
          <a:p>
            <a:pPr marL="0" indent="0">
              <a:lnSpc>
                <a:spcPct val="1400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Bidirectional URL↔ID maps via PageIDMapper</a:t>
            </a:r>
            <a:endParaRPr lang="en-US" sz="1000" dirty="0"/>
          </a:p>
          <a:p>
            <a:pPr marL="0" indent="0">
              <a:lnSpc>
                <a:spcPct val="1400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Sequential integer PageID assignment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02920" y="3811560"/>
            <a:ext cx="813816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6"/>
          <p:cNvSpPr/>
          <p:nvPr/>
        </p:nvSpPr>
        <p:spPr>
          <a:xfrm>
            <a:off x="502920" y="3811560"/>
            <a:ext cx="68580" cy="777240"/>
          </a:xfrm>
          <a:prstGeom prst="rect">
            <a:avLst/>
          </a:prstGeom>
          <a:solidFill>
            <a:srgbClr val="B4530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777240" y="387556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 Extraction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77240" y="4131600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HTMLParser 2.1 parses &lt;a href&gt; tags from fetched pages. Relative URLs resolved to absolute using base URL. All links validated and normalized before enqueuing.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CRAWLER — SLIDE 4 OF 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Crawler Profiling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115568"/>
            <a:ext cx="1097280" cy="13716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2560320" cy="11430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502920" y="1417320"/>
            <a:ext cx="2560320" cy="36576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877824" y="1527048"/>
            <a:ext cx="2048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Pages Crawled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40080" y="170992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300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40080" y="207568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0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Pages fetched from configurable</a:t>
            </a:r>
            <a:endParaRPr lang="en-US" sz="8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80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seed URL via BFS traversal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246120" y="1417320"/>
            <a:ext cx="2560320" cy="11430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10"/>
          <p:cNvSpPr/>
          <p:nvPr/>
        </p:nvSpPr>
        <p:spPr>
          <a:xfrm>
            <a:off x="3246120" y="1417320"/>
            <a:ext cx="2560320" cy="36576"/>
          </a:xfrm>
          <a:prstGeom prst="rect">
            <a:avLst/>
          </a:prstGeom>
          <a:solidFill>
            <a:srgbClr val="0369A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3621024" y="1527048"/>
            <a:ext cx="2048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Fetch Time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383280" y="170992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~450 ms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383280" y="207568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0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Per-page HTTP request + response</a:t>
            </a:r>
            <a:endParaRPr lang="en-US" sz="8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80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including network latency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5989320" y="1417320"/>
            <a:ext cx="2560320" cy="11430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5"/>
          <p:cNvSpPr/>
          <p:nvPr/>
        </p:nvSpPr>
        <p:spPr>
          <a:xfrm>
            <a:off x="5989320" y="1417320"/>
            <a:ext cx="2560320" cy="36576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6364224" y="1527048"/>
            <a:ext cx="2048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Index Time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126480" y="170992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~320 ms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126480" y="207568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0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 preprocessing + posting</a:t>
            </a:r>
            <a:endParaRPr lang="en-US" sz="8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80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 time per page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502920" y="2804912"/>
            <a:ext cx="2560320" cy="11430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2" name="Shape 20"/>
          <p:cNvSpPr/>
          <p:nvPr/>
        </p:nvSpPr>
        <p:spPr>
          <a:xfrm>
            <a:off x="502920" y="2804912"/>
            <a:ext cx="2560320" cy="36576"/>
          </a:xfrm>
          <a:prstGeom prst="rect">
            <a:avLst/>
          </a:prstGeom>
          <a:solidFill>
            <a:srgbClr val="0369A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877824" y="2914640"/>
            <a:ext cx="2048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Index Size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40080" y="30975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~12 MB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640080" y="346328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0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JDBM database files across</a:t>
            </a:r>
            <a:endParaRPr lang="en-US" sz="8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80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persistent HTrees on disk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3246120" y="2804912"/>
            <a:ext cx="2560320" cy="11430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7" name="Shape 25"/>
          <p:cNvSpPr/>
          <p:nvPr/>
        </p:nvSpPr>
        <p:spPr>
          <a:xfrm>
            <a:off x="3246120" y="2804912"/>
            <a:ext cx="2560320" cy="36576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/>
          <p:nvPr/>
        </p:nvSpPr>
        <p:spPr>
          <a:xfrm>
            <a:off x="3593592" y="2914640"/>
            <a:ext cx="2075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Links Extracted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383280" y="30975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~4,500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3383280" y="346328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0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Outbound links discovered</a:t>
            </a:r>
            <a:endParaRPr lang="en-US" sz="8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80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across all crawled pages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5989320" y="2804912"/>
            <a:ext cx="2560320" cy="11430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2" name="Shape 30"/>
          <p:cNvSpPr/>
          <p:nvPr/>
        </p:nvSpPr>
        <p:spPr>
          <a:xfrm>
            <a:off x="5989320" y="2804912"/>
            <a:ext cx="2560320" cy="36576"/>
          </a:xfrm>
          <a:prstGeom prst="rect">
            <a:avLst/>
          </a:prstGeom>
          <a:solidFill>
            <a:srgbClr val="0369A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3" name="Text 31"/>
          <p:cNvSpPr/>
          <p:nvPr/>
        </p:nvSpPr>
        <p:spPr>
          <a:xfrm>
            <a:off x="6364224" y="2914640"/>
            <a:ext cx="2048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RAM Usage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126480" y="30975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~180 MB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6126480" y="346328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0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Peak heap usage during</a:t>
            </a:r>
            <a:endParaRPr lang="en-US" sz="8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80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crawl and index build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502920" y="451484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Note: Performance measured on a single-threaded crawler. Parallelization would significantly reduce total crawl time.</a:t>
            </a:r>
            <a:endParaRPr lang="en-US" sz="900" dirty="0"/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" y="1536192"/>
            <a:ext cx="182880" cy="182880"/>
          </a:xfrm>
          <a:prstGeom prst="rect">
            <a:avLst/>
          </a:prstGeom>
        </p:spPr>
      </p:pic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10712" y="1536192"/>
            <a:ext cx="182880" cy="182880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53912" y="1536192"/>
            <a:ext cx="182880" cy="182880"/>
          </a:xfrm>
          <a:prstGeom prst="rect">
            <a:avLst/>
          </a:prstGeom>
        </p:spPr>
      </p:pic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7512" y="2926080"/>
            <a:ext cx="182880" cy="182880"/>
          </a:xfrm>
          <a:prstGeom prst="rect">
            <a:avLst/>
          </a:prstGeom>
        </p:spPr>
      </p:pic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10712" y="2926080"/>
            <a:ext cx="182880" cy="182880"/>
          </a:xfrm>
          <a:prstGeom prst="rect">
            <a:avLst/>
          </a:prstGeom>
        </p:spPr>
      </p:pic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53912" y="2926080"/>
            <a:ext cx="182880" cy="18288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CRAWLER — SLIDE 5 OF 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Enhancement — PageRank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115568"/>
            <a:ext cx="1097280" cy="13716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4572000" cy="31000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502920" y="1417320"/>
            <a:ext cx="4572000" cy="54864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685800" y="157276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Link-Based Authority Scoring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85800" y="196596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Algorithm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85800" y="2212848"/>
            <a:ext cx="4206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00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Iterative power-iteration PageRank on the crawled link graph</a:t>
            </a:r>
            <a:endParaRPr lang="en-US" sz="1000" dirty="0"/>
          </a:p>
          <a:p>
            <a:pPr marL="0" indent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00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Damping factor: 0.85 (standard)</a:t>
            </a:r>
            <a:endParaRPr lang="en-US" sz="1000" dirty="0"/>
          </a:p>
          <a:p>
            <a:pPr marL="0" indent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00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Convergence threshold: 1e-6</a:t>
            </a:r>
            <a:endParaRPr lang="en-US" sz="1000" dirty="0"/>
          </a:p>
          <a:p>
            <a:pPr marL="0" indent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00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Computed after crawl completes using parentLinks/childLinks HTrees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85800" y="3241682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Blending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85800" y="3500000"/>
            <a:ext cx="4206240" cy="9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final_score = cosine_similarity × (1 − PR_WEIGHT) + pagerank × PR_WEIGHT</a:t>
            </a:r>
            <a:endParaRPr lang="en-US" sz="1000" dirty="0"/>
          </a:p>
          <a:p>
            <a:pPr marL="0" indent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00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PR_WEIGHT configurable in Config.java — blends TF-IDF relevance with link authority</a:t>
            </a:r>
            <a:endParaRPr lang="en-US" sz="1000" dirty="0"/>
          </a:p>
          <a:p>
            <a:pPr marL="0" indent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00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Authority pages (many inbound links) rank higher for relevant queries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349240" y="1417320"/>
            <a:ext cx="3291840" cy="31000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2"/>
          <p:cNvSpPr/>
          <p:nvPr/>
        </p:nvSpPr>
        <p:spPr>
          <a:xfrm>
            <a:off x="5349240" y="1417320"/>
            <a:ext cx="3291840" cy="54864"/>
          </a:xfrm>
          <a:prstGeom prst="rect">
            <a:avLst/>
          </a:prstGeom>
          <a:solidFill>
            <a:srgbClr val="B4530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5532120" y="157276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583680" y="1691640"/>
            <a:ext cx="822960" cy="822960"/>
          </a:xfrm>
          <a:prstGeom prst="line">
            <a:avLst/>
          </a:prstGeom>
          <a:solidFill>
            <a:srgbClr val="B4530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6583680" y="16916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479792" y="169164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Authority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675120" y="2514600"/>
            <a:ext cx="640080" cy="640080"/>
          </a:xfrm>
          <a:prstGeom prst="line">
            <a:avLst/>
          </a:prstGeom>
          <a:solidFill>
            <a:srgbClr val="FEF3C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6675120" y="25146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388352" y="251460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739128" y="3127248"/>
            <a:ext cx="512064" cy="512064"/>
          </a:xfrm>
          <a:prstGeom prst="line">
            <a:avLst/>
          </a:prstGeom>
          <a:solidFill>
            <a:srgbClr val="FEF3C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6739128" y="312724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324344" y="3127248"/>
            <a:ext cx="1097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995160" y="2542032"/>
            <a:ext cx="18288" cy="256032"/>
          </a:xfrm>
          <a:prstGeom prst="rect">
            <a:avLst/>
          </a:prstGeom>
          <a:solidFill>
            <a:srgbClr val="A8A29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Shape 24"/>
          <p:cNvSpPr/>
          <p:nvPr/>
        </p:nvSpPr>
        <p:spPr>
          <a:xfrm>
            <a:off x="6995160" y="3182112"/>
            <a:ext cx="18288" cy="182880"/>
          </a:xfrm>
          <a:prstGeom prst="rect">
            <a:avLst/>
          </a:prstGeom>
          <a:solidFill>
            <a:srgbClr val="A8A29E"/>
          </a:solidFill>
          <a:ln/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— SLIDE 1 OF 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Interface — Servlets &amp; JSP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115568"/>
            <a:ext cx="1097280" cy="13716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8138160" cy="804672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502920" y="1417320"/>
            <a:ext cx="68580" cy="804672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777240" y="149047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SearchServlet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200400" y="149047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/search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77240" y="1764792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Parses query parameter, invokes SearchEngine.search(). Forwards results, query, resultCount to result.jsp. Handles 'similar' parameter for relevance feedback.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02920" y="2427440"/>
            <a:ext cx="8138160" cy="804672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10"/>
          <p:cNvSpPr/>
          <p:nvPr/>
        </p:nvSpPr>
        <p:spPr>
          <a:xfrm>
            <a:off x="502920" y="2427440"/>
            <a:ext cx="68580" cy="804672"/>
          </a:xfrm>
          <a:prstGeom prst="rect">
            <a:avLst/>
          </a:prstGeom>
          <a:solidFill>
            <a:srgbClr val="0369A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777240" y="250059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KeywordBrowseServlet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200400" y="250059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/keywords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77240" y="2774912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Paginated keyword index browser. Lists all indexed stems with links for quick exploration of the crawled vocabulary.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02920" y="3437560"/>
            <a:ext cx="8138160" cy="804672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5"/>
          <p:cNvSpPr/>
          <p:nvPr/>
        </p:nvSpPr>
        <p:spPr>
          <a:xfrm>
            <a:off x="502920" y="3437560"/>
            <a:ext cx="68580" cy="804672"/>
          </a:xfrm>
          <a:prstGeom prst="rect">
            <a:avLst/>
          </a:prstGeom>
          <a:solidFill>
            <a:srgbClr val="B4530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777240" y="351071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SuggestServlet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200400" y="351071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/suggest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777240" y="3785032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 autocomplete endpoint. Queries JDBM indexes for prefix matches and returns JSON array of matching stems.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02920" y="4289080"/>
            <a:ext cx="813816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2" name="Shape 20"/>
          <p:cNvSpPr/>
          <p:nvPr/>
        </p:nvSpPr>
        <p:spPr>
          <a:xfrm>
            <a:off x="502920" y="4289080"/>
            <a:ext cx="68580" cy="594360"/>
          </a:xfrm>
          <a:prstGeom prst="rect">
            <a:avLst/>
          </a:prstGeom>
          <a:solidFill>
            <a:srgbClr val="1E1E1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777240" y="435308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Supporting Components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77240" y="4590832"/>
            <a:ext cx="7589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CharacterEncodingFilter enforces UTF-8 on all requests/responses  ·  JSP pages: index.jsp, result.jsp, keywords.jsp</a:t>
            </a:r>
            <a:endParaRPr lang="en-US" sz="1000" dirty="0"/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1481328"/>
            <a:ext cx="182880" cy="182880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72" y="2487168"/>
            <a:ext cx="182880" cy="182880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6072" y="3493008"/>
            <a:ext cx="182880" cy="18288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— SLIDE 2 OF 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Result Display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115568"/>
            <a:ext cx="1097280" cy="13716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4846320" cy="2926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502920" y="1417320"/>
            <a:ext cx="4846320" cy="54864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685800" y="1627632"/>
            <a:ext cx="822960" cy="347472"/>
          </a:xfrm>
          <a:prstGeom prst="rect">
            <a:avLst/>
          </a:prstGeom>
          <a:solidFill>
            <a:srgbClr val="FEF3C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685800" y="1627632"/>
            <a:ext cx="822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0.8742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645920" y="1627632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Title — Clickable Link to Source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645920" y="1847088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https://example.com/path/to/page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85800" y="2148840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Last Modified: 2024-02-15  ·  Size: 24.5 KB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85800" y="242316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Keywords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85800" y="2606040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algorithm  ·  search  ·  data  ·  comput  ·  network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85800" y="2880360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Parent Links: 3  ·  Child Links: 12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85800" y="3200400"/>
            <a:ext cx="4389120" cy="7315"/>
          </a:xfrm>
          <a:prstGeom prst="rect">
            <a:avLst/>
          </a:prstGeom>
          <a:solidFill>
            <a:srgbClr val="A8A29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5"/>
          <p:cNvSpPr/>
          <p:nvPr/>
        </p:nvSpPr>
        <p:spPr>
          <a:xfrm>
            <a:off x="685800" y="3310128"/>
            <a:ext cx="2011680" cy="347472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685800" y="3310128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Similar Pages →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623560" y="1417320"/>
            <a:ext cx="3017520" cy="2926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8"/>
          <p:cNvSpPr/>
          <p:nvPr/>
        </p:nvSpPr>
        <p:spPr>
          <a:xfrm>
            <a:off x="5623560" y="1417320"/>
            <a:ext cx="3017520" cy="54864"/>
          </a:xfrm>
          <a:prstGeom prst="rect">
            <a:avLst/>
          </a:prstGeom>
          <a:solidFill>
            <a:srgbClr val="B4530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5806440" y="157276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Result Contains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806440" y="201168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Relevance score (TF-IDF + PageRank blend)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806440" y="2359152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title (clickable link) and URL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806440" y="2706624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Last-modified date and page size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806440" y="3054096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5 stemmed keywords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806440" y="3401568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Parent links and child links count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806440" y="374904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"Get Similar Pages" action button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02920" y="4480000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 count displayed above the list.  ·  "Get Similar Pages" triggers relevance feedback via top-5 keyword re-query.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— SLIDE 3 OF 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Enhancement — Autocomplete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115568"/>
            <a:ext cx="1097280" cy="13716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4114800" cy="3245364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502920" y="1417320"/>
            <a:ext cx="4114800" cy="54864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914400" y="1572768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77240" y="2011680"/>
            <a:ext cx="3200400" cy="411480"/>
          </a:xfrm>
          <a:prstGeom prst="rect">
            <a:avLst/>
          </a:prstGeom>
          <a:solidFill>
            <a:srgbClr val="FAF8F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914400" y="201168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comp...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77240" y="2468880"/>
            <a:ext cx="320040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960120" y="2542032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960120" y="2743200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computing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960120" y="2944368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computation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960120" y="3145536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compile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960120" y="3346704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85800" y="357000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Experience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85800" y="3800000"/>
            <a:ext cx="3749040" cy="5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600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suggestions as you type</a:t>
            </a:r>
            <a:endParaRPr lang="en-US" sz="1000" dirty="0"/>
          </a:p>
          <a:p>
            <a:pPr marL="0" indent="0">
              <a:lnSpc>
                <a:spcPct val="1600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full-page reload required</a:t>
            </a:r>
            <a:endParaRPr lang="en-US" sz="1000" dirty="0"/>
          </a:p>
          <a:p>
            <a:pPr marL="0" indent="0">
              <a:lnSpc>
                <a:spcPct val="1600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 can see indexed vocabulary before committing to a query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892040" y="1417320"/>
            <a:ext cx="3749040" cy="3245364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8"/>
          <p:cNvSpPr/>
          <p:nvPr/>
        </p:nvSpPr>
        <p:spPr>
          <a:xfrm>
            <a:off x="4892040" y="1417320"/>
            <a:ext cx="3749040" cy="54864"/>
          </a:xfrm>
          <a:prstGeom prst="rect">
            <a:avLst/>
          </a:prstGeom>
          <a:solidFill>
            <a:srgbClr val="0369A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5248656" y="1572768"/>
            <a:ext cx="3209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Details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074920" y="2011680"/>
            <a:ext cx="3383280" cy="2338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200000"/>
              </a:lnSpc>
              <a:spcAft>
                <a:spcPts val="1000"/>
              </a:spcAft>
              <a:buNone/>
            </a:pPr>
            <a:r>
              <a:rPr lang="en-US" sz="105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Endpoint: GET /suggest?q=prefix</a:t>
            </a:r>
            <a:endParaRPr lang="en-US" sz="1050" dirty="0"/>
          </a:p>
          <a:p>
            <a:pPr marL="0" indent="0">
              <a:lnSpc>
                <a:spcPct val="200000"/>
              </a:lnSpc>
              <a:spcAft>
                <a:spcPts val="1000"/>
              </a:spcAft>
              <a:buNone/>
            </a:pPr>
            <a:r>
              <a:rPr lang="en-US" sz="105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Response: JSON array of strings</a:t>
            </a:r>
            <a:endParaRPr lang="en-US" sz="1050" dirty="0"/>
          </a:p>
          <a:p>
            <a:pPr marL="0" indent="0">
              <a:lnSpc>
                <a:spcPct val="200000"/>
              </a:lnSpc>
              <a:spcAft>
                <a:spcPts val="1000"/>
              </a:spcAft>
              <a:buNone/>
            </a:pPr>
            <a:r>
              <a:rPr lang="en-US" sz="105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Queries JDBM titleIndex and bodyIndex for prefix matches on stemmed terms</a:t>
            </a:r>
            <a:endParaRPr lang="en-US" sz="1050" dirty="0"/>
          </a:p>
          <a:p>
            <a:pPr marL="0" indent="0">
              <a:lnSpc>
                <a:spcPct val="200000"/>
              </a:lnSpc>
              <a:spcAft>
                <a:spcPts val="1000"/>
              </a:spcAft>
              <a:buNone/>
            </a:pPr>
            <a:r>
              <a:rPr lang="en-US" sz="105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Returns matching stems sorted by frequency</a:t>
            </a:r>
            <a:endParaRPr lang="en-US" sz="1050" dirty="0"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591056"/>
            <a:ext cx="201168" cy="201168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0912" y="1591056"/>
            <a:ext cx="201168" cy="201168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— SLIDE 4 OF 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Enhancement — Similar Pages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115568"/>
            <a:ext cx="1097280" cy="13716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612648" y="1417320"/>
            <a:ext cx="182880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612648" y="1417320"/>
            <a:ext cx="1828800" cy="54864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1252728" y="1627632"/>
            <a:ext cx="548640" cy="548640"/>
          </a:xfrm>
          <a:prstGeom prst="line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1252728" y="162763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49808" y="23317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Action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49808" y="260604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0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clicks "Get Similar Pages"</a:t>
            </a:r>
            <a:endParaRPr lang="en-US" sz="9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90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any search result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642616" y="1417320"/>
            <a:ext cx="182880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1"/>
          <p:cNvSpPr/>
          <p:nvPr/>
        </p:nvSpPr>
        <p:spPr>
          <a:xfrm>
            <a:off x="2642616" y="1417320"/>
            <a:ext cx="1828800" cy="54864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2"/>
          <p:cNvSpPr/>
          <p:nvPr/>
        </p:nvSpPr>
        <p:spPr>
          <a:xfrm>
            <a:off x="3282696" y="1627632"/>
            <a:ext cx="548640" cy="548640"/>
          </a:xfrm>
          <a:prstGeom prst="line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3282696" y="162763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2779776" y="23317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Keywords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779776" y="260604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0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SimilarPageRecommender reads</a:t>
            </a:r>
            <a:endParaRPr lang="en-US" sz="9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90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top-5 stored keywords from</a:t>
            </a:r>
            <a:endParaRPr lang="en-US" sz="9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90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pageMetadata HTree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672584" y="1417320"/>
            <a:ext cx="182880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7"/>
          <p:cNvSpPr/>
          <p:nvPr/>
        </p:nvSpPr>
        <p:spPr>
          <a:xfrm>
            <a:off x="4672584" y="1417320"/>
            <a:ext cx="1828800" cy="54864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8"/>
          <p:cNvSpPr/>
          <p:nvPr/>
        </p:nvSpPr>
        <p:spPr>
          <a:xfrm>
            <a:off x="5312664" y="1627632"/>
            <a:ext cx="548640" cy="548640"/>
          </a:xfrm>
          <a:prstGeom prst="line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5312664" y="162763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4809744" y="23317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Query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09744" y="260604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0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Keywords joined into</a:t>
            </a:r>
            <a:endParaRPr lang="en-US" sz="9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90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automatic re-query</a:t>
            </a:r>
            <a:endParaRPr lang="en-US" sz="9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90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string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702552" y="1417320"/>
            <a:ext cx="182880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3"/>
          <p:cNvSpPr/>
          <p:nvPr/>
        </p:nvSpPr>
        <p:spPr>
          <a:xfrm>
            <a:off x="6702552" y="1417320"/>
            <a:ext cx="1828800" cy="54864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Shape 24"/>
          <p:cNvSpPr/>
          <p:nvPr/>
        </p:nvSpPr>
        <p:spPr>
          <a:xfrm>
            <a:off x="7342632" y="1627632"/>
            <a:ext cx="548640" cy="548640"/>
          </a:xfrm>
          <a:prstGeom prst="line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7342632" y="162763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6839712" y="23317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Display Results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839712" y="260604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0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 show pages similar</a:t>
            </a:r>
            <a:endParaRPr lang="en-US" sz="9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90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the selected page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2404872" y="23317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78716C"/>
                </a:solidFill>
              </a:rPr>
              <a:t>→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4432532" y="23317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78716C"/>
                </a:solidFill>
              </a:rPr>
              <a:t>→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460192" y="23317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78716C"/>
                </a:solidFill>
              </a:rPr>
              <a:t>→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502920" y="3749040"/>
            <a:ext cx="813816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4" name="Shape 32"/>
          <p:cNvSpPr/>
          <p:nvPr/>
        </p:nvSpPr>
        <p:spPr>
          <a:xfrm>
            <a:off x="502920" y="3749040"/>
            <a:ext cx="68580" cy="685800"/>
          </a:xfrm>
          <a:prstGeom prst="rect">
            <a:avLst/>
          </a:prstGeom>
          <a:solidFill>
            <a:srgbClr val="0369A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5" name="Text 33"/>
          <p:cNvSpPr/>
          <p:nvPr/>
        </p:nvSpPr>
        <p:spPr>
          <a:xfrm>
            <a:off x="777240" y="3822192"/>
            <a:ext cx="7589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Principle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77240" y="4069080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Fully reuses SearchEngine.search() — zero code duplication. Display shows "Similar pages for: &lt;keyword1&gt; &lt;keyword2&gt; ..."</a:t>
            </a:r>
            <a:endParaRPr lang="en-US" sz="1000" dirty="0"/>
          </a:p>
        </p:txBody>
      </p:sp>
      <p:pic>
        <p:nvPicPr>
          <p:cNvPr id="37" name="Picture 36" descr="mouse-pointer-amber.png">
            <a:extLst>
              <a:ext uri="{FF2B5EF4-FFF2-40B4-BE49-F238E27FC236}">
                <a16:creationId xmlns:a16="http://schemas.microsoft.com/office/drawing/2014/main" id="{95285047-CB63-1B8A-6FFF-1155EDA674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3087" y="1773936"/>
            <a:ext cx="320040" cy="320040"/>
          </a:xfrm>
          <a:prstGeom prst="rect">
            <a:avLst/>
          </a:prstGeom>
        </p:spPr>
      </p:pic>
      <p:pic>
        <p:nvPicPr>
          <p:cNvPr id="38" name="Picture 37" descr="book-open-blue.png">
            <a:extLst>
              <a:ext uri="{FF2B5EF4-FFF2-40B4-BE49-F238E27FC236}">
                <a16:creationId xmlns:a16="http://schemas.microsoft.com/office/drawing/2014/main" id="{EBB9F10E-3C09-2DC0-CF24-864C9A08AB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13056" y="1773936"/>
            <a:ext cx="320040" cy="320040"/>
          </a:xfrm>
          <a:prstGeom prst="rect">
            <a:avLst/>
          </a:prstGeom>
        </p:spPr>
      </p:pic>
      <p:pic>
        <p:nvPicPr>
          <p:cNvPr id="39" name="Picture 38" descr="image.png">
            <a:extLst>
              <a:ext uri="{FF2B5EF4-FFF2-40B4-BE49-F238E27FC236}">
                <a16:creationId xmlns:a16="http://schemas.microsoft.com/office/drawing/2014/main" id="{B8303B57-D20A-1DEA-E1E4-956FA977387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43024" y="1773936"/>
            <a:ext cx="320040" cy="320040"/>
          </a:xfrm>
          <a:prstGeom prst="rect">
            <a:avLst/>
          </a:prstGeom>
        </p:spPr>
      </p:pic>
      <p:pic>
        <p:nvPicPr>
          <p:cNvPr id="40" name="Picture 39" descr="monitor-blue.png">
            <a:extLst>
              <a:ext uri="{FF2B5EF4-FFF2-40B4-BE49-F238E27FC236}">
                <a16:creationId xmlns:a16="http://schemas.microsoft.com/office/drawing/2014/main" id="{9506A6DF-FE65-748C-49B2-B2B193327A8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72992" y="1773936"/>
            <a:ext cx="320040" cy="32004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— SLIDE 5 OF 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Enhancement — Query History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115568"/>
            <a:ext cx="1097280" cy="13716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3931920" cy="2926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502920" y="1417320"/>
            <a:ext cx="3931920" cy="54864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960120" y="157276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Client-Side Storage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85800" y="2066544"/>
            <a:ext cx="3566160" cy="2150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5000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Recent searches stored in browser localStorage</a:t>
            </a:r>
            <a:endParaRPr lang="en-US" sz="1100" dirty="0"/>
          </a:p>
          <a:p>
            <a:pPr marL="0" indent="0">
              <a:lnSpc>
                <a:spcPct val="15000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Displayed on homepage below search box for quick re-access</a:t>
            </a:r>
            <a:endParaRPr lang="en-US" sz="1100" dirty="0"/>
          </a:p>
          <a:p>
            <a:pPr marL="0" indent="0">
              <a:lnSpc>
                <a:spcPct val="15000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 to N recent queries shown; oldest drop off automatically</a:t>
            </a:r>
            <a:endParaRPr lang="en-US" sz="1100" dirty="0"/>
          </a:p>
          <a:p>
            <a:pPr marL="0" indent="0">
              <a:lnSpc>
                <a:spcPct val="15000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Persistent across browser sessions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09160" y="1417320"/>
            <a:ext cx="3931920" cy="2926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1"/>
          <p:cNvSpPr/>
          <p:nvPr/>
        </p:nvSpPr>
        <p:spPr>
          <a:xfrm>
            <a:off x="4709160" y="1417320"/>
            <a:ext cx="3931920" cy="54864"/>
          </a:xfrm>
          <a:prstGeom prst="rect">
            <a:avLst/>
          </a:prstGeom>
          <a:solidFill>
            <a:srgbClr val="0369A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5221224" y="1572768"/>
            <a:ext cx="3236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Privacy &amp; Simplicity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92040" y="2011680"/>
            <a:ext cx="3566160" cy="2043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20000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Client-side only — no server storage</a:t>
            </a:r>
            <a:endParaRPr lang="en-US" sz="1100" dirty="0"/>
          </a:p>
          <a:p>
            <a:pPr marL="0" indent="0">
              <a:lnSpc>
                <a:spcPct val="20000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Respects user privacy by default</a:t>
            </a:r>
            <a:endParaRPr lang="en-US" sz="1100" dirty="0"/>
          </a:p>
          <a:p>
            <a:pPr marL="0" indent="0">
              <a:lnSpc>
                <a:spcPct val="20000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re-access without retyping previous queries</a:t>
            </a:r>
            <a:endParaRPr lang="en-US" sz="1100" dirty="0"/>
          </a:p>
          <a:p>
            <a:pPr marL="0" indent="0">
              <a:lnSpc>
                <a:spcPct val="20000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backend dependency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92040" y="368000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 point: localStorage API provides persistent key-value store across browser sessions with zero backend dependency.</a:t>
            </a:r>
            <a:endParaRPr lang="en-US" sz="950" dirty="0"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" y="1592341"/>
            <a:ext cx="201168" cy="201168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4608" y="1609344"/>
            <a:ext cx="201168" cy="201168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8046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78716C"/>
                </a:solidFill>
                <a:latin typeface="Arial"/>
              </a:rPr>
              <a:t>FRONTEND — SLIDE 6 OF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E1E1E"/>
                </a:solidFill>
                <a:latin typeface="Arial"/>
              </a:rPr>
              <a:t>Enhancement — Keywords Table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15568"/>
            <a:ext cx="1097280" cy="1371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02920" y="1417320"/>
            <a:ext cx="3931920" cy="2926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02920" y="1417320"/>
            <a:ext cx="3931920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" y="1627632"/>
            <a:ext cx="201168" cy="20116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60120" y="160020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E1E1E"/>
                </a:solidFill>
                <a:latin typeface="Arial"/>
              </a:rPr>
              <a:t>Interactive Keywords Table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057400"/>
            <a:ext cx="3931920" cy="17477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algn="l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sz="1200" b="0" dirty="0">
                <a:solidFill>
                  <a:srgbClr val="1E1E1E"/>
                </a:solidFill>
                <a:latin typeface="Arial"/>
              </a:rPr>
              <a:t>Browse all indexed keywords in a paginated, sortable table</a:t>
            </a:r>
          </a:p>
          <a:p>
            <a:pPr marL="171450" indent="-171450" algn="l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sz="1200" b="0" dirty="0">
                <a:solidFill>
                  <a:srgbClr val="1E1E1E"/>
                </a:solidFill>
                <a:latin typeface="Arial"/>
              </a:rPr>
              <a:t>Each row shows term, TF, DF, and posting count</a:t>
            </a:r>
          </a:p>
          <a:p>
            <a:pPr marL="171450" indent="-171450" algn="l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sz="1200" b="0" dirty="0">
                <a:solidFill>
                  <a:srgbClr val="1E1E1E"/>
                </a:solidFill>
                <a:latin typeface="Arial"/>
              </a:rPr>
              <a:t>Click any keyword to instantly search for it via GET parameter</a:t>
            </a:r>
          </a:p>
          <a:p>
            <a:pPr marL="171450" indent="-171450" algn="l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sz="1200" b="0" dirty="0">
                <a:solidFill>
                  <a:srgbClr val="1E1E1E"/>
                </a:solidFill>
                <a:latin typeface="Arial"/>
              </a:rPr>
              <a:t>Transparent view into what the engine has indexed</a:t>
            </a:r>
          </a:p>
          <a:p>
            <a:pPr marL="171450" indent="-171450" algn="l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sz="1200" b="0" dirty="0">
                <a:solidFill>
                  <a:srgbClr val="1E1E1E"/>
                </a:solidFill>
                <a:latin typeface="Arial"/>
              </a:rPr>
              <a:t>Helps users discover available search vocabulary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09160" y="1417320"/>
            <a:ext cx="3931920" cy="2926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709160" y="1417320"/>
            <a:ext cx="3931920" cy="54864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2896" y="1627632"/>
            <a:ext cx="201168" cy="20116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166360" y="160020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E1E1E"/>
                </a:solidFill>
                <a:latin typeface="Arial"/>
              </a:rPr>
              <a:t>Implementation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13825" y="2057400"/>
            <a:ext cx="3827255" cy="17477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algn="l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sz="1200" b="0" dirty="0">
                <a:solidFill>
                  <a:srgbClr val="1E1E1E"/>
                </a:solidFill>
                <a:latin typeface="Arial"/>
              </a:rPr>
              <a:t>Reads all keys from </a:t>
            </a:r>
            <a:r>
              <a:rPr sz="1200" b="0" dirty="0" err="1">
                <a:solidFill>
                  <a:srgbClr val="1E1E1E"/>
                </a:solidFill>
                <a:latin typeface="Arial"/>
              </a:rPr>
              <a:t>titleIndex</a:t>
            </a:r>
            <a:r>
              <a:rPr sz="1200" b="0" dirty="0">
                <a:solidFill>
                  <a:srgbClr val="1E1E1E"/>
                </a:solidFill>
                <a:latin typeface="Arial"/>
              </a:rPr>
              <a:t> &amp; </a:t>
            </a:r>
            <a:r>
              <a:rPr sz="1200" b="0" dirty="0" err="1">
                <a:solidFill>
                  <a:srgbClr val="1E1E1E"/>
                </a:solidFill>
                <a:latin typeface="Arial"/>
              </a:rPr>
              <a:t>bodyIndex</a:t>
            </a:r>
            <a:r>
              <a:rPr sz="1200" b="0" dirty="0">
                <a:solidFill>
                  <a:srgbClr val="1E1E1E"/>
                </a:solidFill>
                <a:latin typeface="Arial"/>
              </a:rPr>
              <a:t> JDBM </a:t>
            </a:r>
            <a:r>
              <a:rPr sz="1200" b="0" dirty="0" err="1">
                <a:solidFill>
                  <a:srgbClr val="1E1E1E"/>
                </a:solidFill>
                <a:latin typeface="Arial"/>
              </a:rPr>
              <a:t>HTrees</a:t>
            </a:r>
            <a:endParaRPr sz="1200" b="0" dirty="0">
              <a:solidFill>
                <a:srgbClr val="1E1E1E"/>
              </a:solidFill>
              <a:latin typeface="Arial"/>
            </a:endParaRPr>
          </a:p>
          <a:p>
            <a:pPr marL="171450" indent="-171450" algn="l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sz="1200" b="0" dirty="0">
                <a:solidFill>
                  <a:srgbClr val="1E1E1E"/>
                </a:solidFill>
                <a:latin typeface="Arial"/>
              </a:rPr>
              <a:t>Computes TF/DF from </a:t>
            </a:r>
            <a:r>
              <a:rPr sz="1200" b="0" dirty="0" err="1">
                <a:solidFill>
                  <a:srgbClr val="1E1E1E"/>
                </a:solidFill>
                <a:latin typeface="Arial"/>
              </a:rPr>
              <a:t>PostingList</a:t>
            </a:r>
            <a:r>
              <a:rPr sz="1200" b="0" dirty="0">
                <a:solidFill>
                  <a:srgbClr val="1E1E1E"/>
                </a:solidFill>
                <a:latin typeface="Arial"/>
              </a:rPr>
              <a:t> sizes at request time</a:t>
            </a:r>
          </a:p>
          <a:p>
            <a:pPr marL="171450" indent="-171450" algn="l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sz="1200" b="0" dirty="0">
                <a:solidFill>
                  <a:srgbClr val="1E1E1E"/>
                </a:solidFill>
                <a:latin typeface="Arial"/>
              </a:rPr>
              <a:t>JSP renders as a sortable, paginated HTML table</a:t>
            </a:r>
          </a:p>
          <a:p>
            <a:pPr marL="171450" indent="-171450" algn="l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sz="1200" b="0" dirty="0">
                <a:solidFill>
                  <a:srgbClr val="1E1E1E"/>
                </a:solidFill>
                <a:latin typeface="Arial"/>
              </a:rPr>
              <a:t>Zero extra storage — queries live inverted indexes</a:t>
            </a:r>
          </a:p>
          <a:p>
            <a:pPr marL="171450" indent="-171450" algn="l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sz="1200" b="0" dirty="0">
                <a:solidFill>
                  <a:srgbClr val="1E1E1E"/>
                </a:solidFill>
                <a:latin typeface="Arial"/>
              </a:rPr>
              <a:t>New </a:t>
            </a:r>
            <a:r>
              <a:rPr sz="1200" b="0" dirty="0" err="1">
                <a:solidFill>
                  <a:srgbClr val="1E1E1E"/>
                </a:solidFill>
                <a:latin typeface="Arial"/>
              </a:rPr>
              <a:t>KeywordServlet</a:t>
            </a:r>
            <a:r>
              <a:rPr sz="1200" b="0" dirty="0">
                <a:solidFill>
                  <a:srgbClr val="1E1E1E"/>
                </a:solidFill>
                <a:latin typeface="Arial"/>
              </a:rPr>
              <a:t> handles listing &amp; term lookup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4617720"/>
            <a:ext cx="8138160" cy="384048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02920" y="4617720"/>
            <a:ext cx="68580" cy="38404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71500" y="4649724"/>
            <a:ext cx="779526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dirty="0">
                <a:solidFill>
                  <a:srgbClr val="D97706"/>
                </a:solidFill>
                <a:latin typeface="Arial"/>
              </a:rPr>
              <a:t>Keywords Table Servlet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1500" y="4805172"/>
            <a:ext cx="779526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dirty="0">
                <a:solidFill>
                  <a:srgbClr val="78716C"/>
                </a:solidFill>
                <a:latin typeface="Arial"/>
              </a:rPr>
              <a:t>All data read live from existing inverted indexes — no extra storage, pre-computation, or maintenance overhead. Keyword click passes term to </a:t>
            </a:r>
            <a:r>
              <a:rPr sz="800" b="0" dirty="0" err="1">
                <a:solidFill>
                  <a:srgbClr val="78716C"/>
                </a:solidFill>
                <a:latin typeface="Arial"/>
              </a:rPr>
              <a:t>SearchServlet</a:t>
            </a:r>
            <a:r>
              <a:rPr sz="800" b="0" dirty="0">
                <a:solidFill>
                  <a:srgbClr val="78716C"/>
                </a:solidFill>
                <a:latin typeface="Arial"/>
              </a:rPr>
              <a:t> via GET.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Demonstration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115568"/>
            <a:ext cx="1097280" cy="13716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256032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548640" y="1417320"/>
            <a:ext cx="2560320" cy="45720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927624" y="152704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Keyword Search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27624" y="180136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algorithm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291840" y="1417320"/>
            <a:ext cx="256032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9"/>
          <p:cNvSpPr/>
          <p:nvPr/>
        </p:nvSpPr>
        <p:spPr>
          <a:xfrm>
            <a:off x="3291840" y="1417320"/>
            <a:ext cx="2560320" cy="45720"/>
          </a:xfrm>
          <a:prstGeom prst="rect">
            <a:avLst/>
          </a:prstGeom>
          <a:solidFill>
            <a:srgbClr val="B4530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3670824" y="152704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Phrase Search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670824" y="180136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"hong kong"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035040" y="1417320"/>
            <a:ext cx="256032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6035040" y="1417320"/>
            <a:ext cx="2560320" cy="45720"/>
          </a:xfrm>
          <a:prstGeom prst="rect">
            <a:avLst/>
          </a:prstGeom>
          <a:solidFill>
            <a:srgbClr val="0369A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6414024" y="152704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Mixed Query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14024" y="180136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"data mining" research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8640" y="2450592"/>
            <a:ext cx="256032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7"/>
          <p:cNvSpPr/>
          <p:nvPr/>
        </p:nvSpPr>
        <p:spPr>
          <a:xfrm>
            <a:off x="548640" y="2450592"/>
            <a:ext cx="2560320" cy="45720"/>
          </a:xfrm>
          <a:prstGeom prst="rect">
            <a:avLst/>
          </a:prstGeom>
          <a:solidFill>
            <a:srgbClr val="0284C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927624" y="256032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Autocomplete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27624" y="283464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 comp...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3291840" y="2450592"/>
            <a:ext cx="256032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3" name="Shape 21"/>
          <p:cNvSpPr/>
          <p:nvPr/>
        </p:nvSpPr>
        <p:spPr>
          <a:xfrm>
            <a:off x="3291840" y="2450592"/>
            <a:ext cx="2560320" cy="45720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3670824" y="256032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Similar Pages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670824" y="283464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"Get Similar"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035040" y="2450592"/>
            <a:ext cx="256032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7" name="Shape 25"/>
          <p:cNvSpPr/>
          <p:nvPr/>
        </p:nvSpPr>
        <p:spPr>
          <a:xfrm>
            <a:off x="6035040" y="2450592"/>
            <a:ext cx="2560320" cy="4572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/>
          <p:nvPr/>
        </p:nvSpPr>
        <p:spPr>
          <a:xfrm>
            <a:off x="6414024" y="256032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Keyword Browser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14024" y="283464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/keywords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02920" y="440000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Walk through each scenario live to demonstrate the complete search engine functionality.</a:t>
            </a:r>
            <a:endParaRPr lang="en-US" sz="1000" dirty="0"/>
          </a:p>
        </p:txBody>
      </p:sp>
      <p:pic>
        <p:nvPicPr>
          <p:cNvPr id="35" name="Picture 30" descr="image.png">
            <a:extLst>
              <a:ext uri="{FF2B5EF4-FFF2-40B4-BE49-F238E27FC236}">
                <a16:creationId xmlns:a16="http://schemas.microsoft.com/office/drawing/2014/main" id="{AC8C1034-31F3-A521-EC04-5F1D7C7AA1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139" y="1723529"/>
            <a:ext cx="225953" cy="225953"/>
          </a:xfrm>
          <a:prstGeom prst="rect">
            <a:avLst/>
          </a:prstGeom>
        </p:spPr>
      </p:pic>
      <p:pic>
        <p:nvPicPr>
          <p:cNvPr id="36" name="Picture 31" descr="quote-amber.png">
            <a:extLst>
              <a:ext uri="{FF2B5EF4-FFF2-40B4-BE49-F238E27FC236}">
                <a16:creationId xmlns:a16="http://schemas.microsoft.com/office/drawing/2014/main" id="{569DD35E-EB25-20C1-1925-4DE56EF901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71339" y="1723529"/>
            <a:ext cx="225953" cy="225953"/>
          </a:xfrm>
          <a:prstGeom prst="rect">
            <a:avLst/>
          </a:prstGeom>
        </p:spPr>
      </p:pic>
      <p:pic>
        <p:nvPicPr>
          <p:cNvPr id="37" name="Picture 32" descr="image.png">
            <a:extLst>
              <a:ext uri="{FF2B5EF4-FFF2-40B4-BE49-F238E27FC236}">
                <a16:creationId xmlns:a16="http://schemas.microsoft.com/office/drawing/2014/main" id="{958CE124-9197-E479-E523-332A7DB5D0E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14539" y="1723529"/>
            <a:ext cx="225953" cy="225953"/>
          </a:xfrm>
          <a:prstGeom prst="rect">
            <a:avLst/>
          </a:prstGeom>
        </p:spPr>
      </p:pic>
      <p:pic>
        <p:nvPicPr>
          <p:cNvPr id="38" name="Picture 33" descr="image.png">
            <a:extLst>
              <a:ext uri="{FF2B5EF4-FFF2-40B4-BE49-F238E27FC236}">
                <a16:creationId xmlns:a16="http://schemas.microsoft.com/office/drawing/2014/main" id="{711AA843-0D92-7DB4-1755-B4729ADA7E7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139" y="2756801"/>
            <a:ext cx="225953" cy="225953"/>
          </a:xfrm>
          <a:prstGeom prst="rect">
            <a:avLst/>
          </a:prstGeom>
        </p:spPr>
      </p:pic>
      <p:pic>
        <p:nvPicPr>
          <p:cNvPr id="39" name="Picture 34" descr="image.png">
            <a:extLst>
              <a:ext uri="{FF2B5EF4-FFF2-40B4-BE49-F238E27FC236}">
                <a16:creationId xmlns:a16="http://schemas.microsoft.com/office/drawing/2014/main" id="{D2632D84-54EA-7D5D-89F3-DBCB802C954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71339" y="2756801"/>
            <a:ext cx="225953" cy="225953"/>
          </a:xfrm>
          <a:prstGeom prst="rect">
            <a:avLst/>
          </a:prstGeom>
        </p:spPr>
      </p:pic>
      <p:pic>
        <p:nvPicPr>
          <p:cNvPr id="40" name="Picture 35" descr="list-gray.png">
            <a:extLst>
              <a:ext uri="{FF2B5EF4-FFF2-40B4-BE49-F238E27FC236}">
                <a16:creationId xmlns:a16="http://schemas.microsoft.com/office/drawing/2014/main" id="{8E2E287A-2B76-2FAE-BB5C-5AF94E24FDC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14539" y="2756801"/>
            <a:ext cx="225953" cy="225953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 &amp; Future Work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115568"/>
            <a:ext cx="1097280" cy="13716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2560320" cy="27432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502920" y="1417320"/>
            <a:ext cx="2560320" cy="54864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640080" y="15544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Strengths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196596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assignment implementation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40080" y="2368296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JDBM disk-based persistence (no in-memory-only data)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40080" y="277063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Accurate phrase search with position-based verification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40080" y="317296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 boost + PageRank blend for improved ranking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40080" y="3575304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 modular architecture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300400" y="1417320"/>
            <a:ext cx="2560320" cy="27432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3300400" y="1417320"/>
            <a:ext cx="2560320" cy="54864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3437560" y="15544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437560" y="196596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Single-threaded crawler (could be parallelized for speed)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437560" y="2368296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incremental index updates (re-crawl required for changes)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097880" y="1417320"/>
            <a:ext cx="2560320" cy="27432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8"/>
          <p:cNvSpPr/>
          <p:nvPr/>
        </p:nvSpPr>
        <p:spPr>
          <a:xfrm>
            <a:off x="6097880" y="1417320"/>
            <a:ext cx="2560320" cy="54864"/>
          </a:xfrm>
          <a:prstGeom prst="rect">
            <a:avLst/>
          </a:prstGeom>
          <a:solidFill>
            <a:srgbClr val="0369A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6235040" y="15544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Improvements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235040" y="196596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Multi-threaded / distributed crawling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235040" y="2368296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HITS algorithm for hub/authority scoring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235040" y="277063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Snippet generation with keyword highlighting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235040" y="317296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Multi-language support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02920" y="4380000"/>
            <a:ext cx="8138160" cy="3657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502920" y="438000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CSIT5930 Web Search Engine  —  BFS Crawling  ·  Dual Inverted Index  ·  TF-IDF Ranking  ·  Phrase Search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1757</Words>
  <Application>Microsoft Macintosh PowerPoint</Application>
  <PresentationFormat>全屏显示(16:9)</PresentationFormat>
  <Paragraphs>365</Paragraphs>
  <Slides>19</Slides>
  <Notes>18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22" baseType="lpstr">
      <vt:lpstr>Arial</vt:lpstr>
      <vt:lpstr>Cambria Math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CSIT5930 Web Search Engine</dc:title>
  <dc:subject>PptxGenJS Presentation</dc:subject>
  <dc:creator>HKUST CSIT5930</dc:creator>
  <cp:lastModifiedBy>LI Jinchuan</cp:lastModifiedBy>
  <cp:revision>15</cp:revision>
  <dcterms:created xsi:type="dcterms:W3CDTF">2026-04-26T06:53:29Z</dcterms:created>
  <dcterms:modified xsi:type="dcterms:W3CDTF">2026-04-26T13:21:18Z</dcterms:modified>
</cp:coreProperties>
</file>