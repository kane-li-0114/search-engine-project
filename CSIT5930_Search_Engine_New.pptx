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8272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4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5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CSIT5930 · SEARCH ENGINE TECHNOLOGIES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 Engine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5146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BFS Crawling  ·  Dual Inverted Index  ·  TF-IDF Ranking  ·  Phrase Search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9144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Hong Kong University of Science and Technology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691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69164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40080" y="1942911"/>
            <a:ext cx="1417320" cy="332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59742" y="2148840"/>
            <a:ext cx="1097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BFS crawling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seed URL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(up to 300 pages)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7096" y="1554480"/>
            <a:ext cx="1691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2577096" y="1554480"/>
            <a:ext cx="169164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2714256" y="194805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17010" y="2148840"/>
            <a:ext cx="121456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preprocessing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dual inverted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construction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51272" y="1554480"/>
            <a:ext cx="1691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4651272" y="1554480"/>
            <a:ext cx="169164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4788432" y="19254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085876" y="2148840"/>
            <a:ext cx="11198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parsing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scoring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914373" y="1554480"/>
            <a:ext cx="169164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914373" y="1554480"/>
            <a:ext cx="1691640" cy="54864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7051533" y="19254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07641" y="2148840"/>
            <a:ext cx="116121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JSP-based UI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query input</a:t>
            </a:r>
            <a:endParaRPr lang="en-US" sz="1050" dirty="0"/>
          </a:p>
          <a:p>
            <a:pPr marL="0" indent="0" algn="just">
              <a:lnSpc>
                <a:spcPct val="14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result display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157984" y="2305875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8716C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45515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8716C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525489" y="2293557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8716C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502920" y="4081548"/>
            <a:ext cx="813816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4081548"/>
            <a:ext cx="54864" cy="50292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777240" y="408154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JDBM Storage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834640" y="408154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HTrees · All data persisted to disk · Bidirectional URL↔PageID mapping · Link graph storage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73984" y="3621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716C"/>
                </a:solidFill>
              </a:rPr>
              <a:t>▼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321690" y="3621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716C"/>
                </a:solidFill>
              </a:rPr>
              <a:t>▼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16497" y="3621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716C"/>
                </a:solidFill>
              </a:rPr>
              <a:t>▲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617102" y="362147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8716C"/>
                </a:solidFill>
              </a:rPr>
              <a:t>▲</a:t>
            </a:r>
            <a:endParaRPr lang="en-US" sz="1200" dirty="0"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72974"/>
            <a:ext cx="228600" cy="228600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8616" y="1672974"/>
            <a:ext cx="228600" cy="228600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2792" y="1713065"/>
            <a:ext cx="228600" cy="228600"/>
          </a:xfrm>
          <a:prstGeom prst="rect">
            <a:avLst/>
          </a:prstGeom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9962" y="1672974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— SLIDE 1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Database File Structure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67512" y="145389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url2id / id2url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" y="163677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URL ↔ PageID mapping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1911096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502920" y="1911096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67512" y="1947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parentLinks / childLinks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" y="213055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graph (child-to-parent / parent-to-child)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2404872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404872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67512" y="24414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titleIndex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7512" y="262432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inverted index (stem → PostingList)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898648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898648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67512" y="293522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bodyIndex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7512" y="311810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inverted index (stem → PostingList)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392424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392424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67512" y="34290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pageMetadata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" y="3611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title, size, last-modified, top-keywords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3886200"/>
            <a:ext cx="43891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886200"/>
            <a:ext cx="68580" cy="43891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67512" y="392277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systemConfig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" y="41056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Counters: totalDocs, nextPageId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57800" y="1417320"/>
            <a:ext cx="3383280" cy="2880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5257800" y="1417320"/>
            <a:ext cx="338328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5440680" y="15819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PostingList Structure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77840" y="1993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pageId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95160" y="19933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integer identifier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2340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termFrequency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95160" y="234086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count in document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577840" y="26883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maxTermFrequency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95160" y="268833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TF across all terms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577840" y="303580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positions[]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95160" y="30358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offset array for phrase search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40680" y="3611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HashMap&lt;PageID, PostingEntry&gt;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40680" y="3840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inverted indexes for title and body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— SLIDE 2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Algorithms — Text Preprocessing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99516" y="1554480"/>
            <a:ext cx="1417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1152144" y="1645920"/>
            <a:ext cx="512064" cy="512064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152144" y="1645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9244" y="22860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Lowercase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244" y="25786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all text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lowercase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81428" y="1554480"/>
            <a:ext cx="1417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2734056" y="1645920"/>
            <a:ext cx="512064" cy="512064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2734056" y="1645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391156" y="22860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Tokenize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91156" y="25786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non-alphabetic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63340" y="1554480"/>
            <a:ext cx="1417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4315968" y="1645920"/>
            <a:ext cx="512064" cy="512064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4315968" y="1645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73068" y="22860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Stopwords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73068" y="25786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using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stopwords.txt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45252" y="1554480"/>
            <a:ext cx="1417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5897880" y="1645920"/>
            <a:ext cx="512064" cy="512064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5897880" y="1645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554980" y="22860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Stemming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554980" y="25786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Porter Stemming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(Lab3)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27164" y="1554480"/>
            <a:ext cx="14173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7479792" y="1645920"/>
            <a:ext cx="512064" cy="512064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7479792" y="16459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136892" y="22860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136892" y="2578608"/>
            <a:ext cx="119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position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phrase search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43684" y="21945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625596" y="21945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07508" y="21945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89420" y="21945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02920" y="3474720"/>
            <a:ext cx="813816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502920" y="3474720"/>
            <a:ext cx="68580" cy="86868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777240" y="3547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77240" y="382219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pipeline — same preprocessing applied consistently at both index time and query time, guaranteeing stem consistency.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77240" y="405079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tracking enables phrase search across both title and body indexes.</a:t>
            </a:r>
            <a:endParaRPr lang="en-US" sz="950" dirty="0"/>
          </a:p>
        </p:txBody>
      </p:sp>
      <p:pic>
        <p:nvPicPr>
          <p:cNvPr id="40" name="Picture 39" descr="arrow-down-a-z-amber.png">
            <a:extLst>
              <a:ext uri="{FF2B5EF4-FFF2-40B4-BE49-F238E27FC236}">
                <a16:creationId xmlns:a16="http://schemas.microsoft.com/office/drawing/2014/main" id="{094ED28D-2A0E-7FA2-5859-FE13708D1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3" y="1770459"/>
            <a:ext cx="320040" cy="320040"/>
          </a:xfrm>
          <a:prstGeom prst="rect">
            <a:avLst/>
          </a:prstGeom>
        </p:spPr>
      </p:pic>
      <p:pic>
        <p:nvPicPr>
          <p:cNvPr id="41" name="Picture 40" descr="scissors-blue.png">
            <a:extLst>
              <a:ext uri="{FF2B5EF4-FFF2-40B4-BE49-F238E27FC236}">
                <a16:creationId xmlns:a16="http://schemas.microsoft.com/office/drawing/2014/main" id="{702BE499-6111-E849-6B92-80C73C696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4665" y="1770459"/>
            <a:ext cx="320040" cy="320040"/>
          </a:xfrm>
          <a:prstGeom prst="rect">
            <a:avLst/>
          </a:prstGeom>
        </p:spPr>
      </p:pic>
      <p:pic>
        <p:nvPicPr>
          <p:cNvPr id="42" name="Picture 41" descr="filter-amber.png">
            <a:extLst>
              <a:ext uri="{FF2B5EF4-FFF2-40B4-BE49-F238E27FC236}">
                <a16:creationId xmlns:a16="http://schemas.microsoft.com/office/drawing/2014/main" id="{613A2CE1-5B7A-4D4F-2658-14CD05CA4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577" y="1770459"/>
            <a:ext cx="320040" cy="320040"/>
          </a:xfrm>
          <a:prstGeom prst="rect">
            <a:avLst/>
          </a:prstGeom>
        </p:spPr>
      </p:pic>
      <p:pic>
        <p:nvPicPr>
          <p:cNvPr id="43" name="Picture 42" descr="cog-blue.png">
            <a:extLst>
              <a:ext uri="{FF2B5EF4-FFF2-40B4-BE49-F238E27FC236}">
                <a16:creationId xmlns:a16="http://schemas.microsoft.com/office/drawing/2014/main" id="{0D33BD5E-F63C-70AE-BF35-6429204A43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8489" y="1770459"/>
            <a:ext cx="320040" cy="320040"/>
          </a:xfrm>
          <a:prstGeom prst="rect">
            <a:avLst/>
          </a:prstGeom>
        </p:spPr>
      </p:pic>
      <p:pic>
        <p:nvPicPr>
          <p:cNvPr id="44" name="Picture 43" descr="map-pin-amber.png">
            <a:extLst>
              <a:ext uri="{FF2B5EF4-FFF2-40B4-BE49-F238E27FC236}">
                <a16:creationId xmlns:a16="http://schemas.microsoft.com/office/drawing/2014/main" id="{AD3F3344-3670-C74B-BFBF-0610B98AAC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0401" y="1770459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— SLIDE 3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Algorithms — TF-IDF &amp; Cosine Similarity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931920" cy="19620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93192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Formula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685800" y="1920240"/>
                <a:ext cx="35661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𝑻𝑭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−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𝑰𝑫𝑭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(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𝒕𝒇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m:rPr>
                          <m:sty m:val="p"/>
                        </m:rP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max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𝒕𝒇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× </m:t>
                      </m:r>
                      <m:r>
                        <m:rPr>
                          <m:sty m:val="p"/>
                        </m:rP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ln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𝑵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/ 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𝒅𝒇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920240"/>
                <a:ext cx="3566160" cy="457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685800" y="2331720"/>
            <a:ext cx="3566160" cy="8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= term frequency in document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max_tf = max term frequency across all terms in document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total documents  |  df = document frequency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3931920" cy="19620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3192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92040" y="1572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 Similarity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4892040" y="1920240"/>
                <a:ext cx="35661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cos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⁡(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𝒒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, 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= (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𝒒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· 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 / (|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𝒒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| × |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𝒅</m:t>
                      </m:r>
                      <m:r>
                        <a:rPr lang="en-US" sz="1600" b="1" i="1" dirty="0" smtClean="0">
                          <a:solidFill>
                            <a:srgbClr val="0369A1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|)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040" y="1920240"/>
                <a:ext cx="3566160" cy="457200"/>
              </a:xfrm>
              <a:prstGeom prst="rect">
                <a:avLst/>
              </a:prstGeom>
              <a:blipFill>
                <a:blip r:embed="rId4"/>
                <a:stretch>
                  <a:fillRect b="-2703"/>
                </a:stretch>
              </a:blipFill>
              <a:ln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 13"/>
          <p:cNvSpPr/>
          <p:nvPr/>
        </p:nvSpPr>
        <p:spPr>
          <a:xfrm>
            <a:off x="4892040" y="2377440"/>
            <a:ext cx="3566160" cy="841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and document represented as TF-IDF weight vectors in the vector space model.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93364"/>
            <a:ext cx="81381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02920" y="3593364"/>
            <a:ext cx="54864" cy="105156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77240" y="3684804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Boost Mechanism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777240" y="4004844"/>
                <a:ext cx="758952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𝒆𝒇𝒇𝒆𝒄𝒕𝒊𝒗𝒆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𝒘𝒆𝒊𝒈𝒉𝒕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= 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𝒃𝒐𝒅𝒚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𝒕𝒇𝒊𝒅𝒇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+ 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𝒕𝒊𝒕𝒍𝒆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𝒕𝒇𝒊𝒅𝒇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× 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𝑻𝑰𝑻𝑳𝑬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𝑩𝑶𝑶𝑺𝑻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_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𝑭𝑨𝑪𝑻𝑶𝑹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(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𝟑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𝟎</m:t>
                      </m:r>
                      <m:r>
                        <a:rPr lang="en-US" sz="1400" b="1" i="1" dirty="0" smtClean="0">
                          <a:solidFill>
                            <a:srgbClr val="B45309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4004844"/>
                <a:ext cx="7589520" cy="274320"/>
              </a:xfrm>
              <a:prstGeom prst="rect">
                <a:avLst/>
              </a:prstGeom>
              <a:blipFill>
                <a:blip r:embed="rId5"/>
                <a:stretch>
                  <a:fillRect t="-9091" b="-31818"/>
                </a:stretch>
              </a:blipFill>
              <a:ln/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18"/>
          <p:cNvSpPr/>
          <p:nvPr/>
        </p:nvSpPr>
        <p:spPr>
          <a:xfrm>
            <a:off x="777240" y="4324884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matches are weighted 3× over body matches to improve precision — words appearing in page titles are stronger relevance indicators.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— SLIDE 4 OF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Algorithms — Phrase Search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0292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85800" y="1536192"/>
            <a:ext cx="402336" cy="402336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536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6121" y="146780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Query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76121" y="1705545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quoted phrases and bare</a:t>
            </a:r>
            <a:r>
              <a:rPr lang="zh-CN" altLang="en-US" sz="1200" dirty="0"/>
              <a:t> </a:t>
            </a: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from query string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194560"/>
            <a:ext cx="50292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685800" y="2313432"/>
            <a:ext cx="402336" cy="402336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23134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121" y="224504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Postings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6121" y="2482785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posting lists for</a:t>
            </a:r>
            <a:r>
              <a:rPr lang="zh-CN" altLang="en-US" sz="1200" dirty="0"/>
              <a:t> </a:t>
            </a: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phrase token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971800"/>
            <a:ext cx="50292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685800" y="3090672"/>
            <a:ext cx="402336" cy="402336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858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76121" y="302228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Candidates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76121" y="3260025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 all phrase-term,</a:t>
            </a:r>
            <a:r>
              <a:rPr lang="zh-CN" altLang="en-US" sz="1200" dirty="0"/>
              <a:t> </a:t>
            </a: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posting lists → candidate docs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502920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685800" y="3867912"/>
            <a:ext cx="402336" cy="402336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85800" y="3867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76121" y="3799521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Positions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76120" y="4037265"/>
            <a:ext cx="42893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consecutive positions: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pos(term[i+1]) = pos(term[i]) + 1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06440" y="1417320"/>
            <a:ext cx="2834640" cy="2971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806440" y="1417320"/>
            <a:ext cx="283464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5989320" y="15727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8932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"hong kong" university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89320" y="224028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both title and body indexes for phrase matches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Position-based adjacency verification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ranking with regular TF-IDF scores merged by Ranker</a:t>
            </a:r>
            <a:endParaRPr lang="en-US" sz="1100" dirty="0"/>
          </a:p>
        </p:txBody>
      </p:sp>
      <p:pic>
        <p:nvPicPr>
          <p:cNvPr id="31" name="Picture 30" descr="text-search-amber.png">
            <a:extLst>
              <a:ext uri="{FF2B5EF4-FFF2-40B4-BE49-F238E27FC236}">
                <a16:creationId xmlns:a16="http://schemas.microsoft.com/office/drawing/2014/main" id="{ADFA5E61-C610-4BA5-B6DF-AE75A26FF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68197"/>
            <a:ext cx="265175" cy="265175"/>
          </a:xfrm>
          <a:prstGeom prst="rect">
            <a:avLst/>
          </a:prstGeom>
        </p:spPr>
      </p:pic>
      <p:pic>
        <p:nvPicPr>
          <p:cNvPr id="32" name="Picture 31" descr="image.png">
            <a:extLst>
              <a:ext uri="{FF2B5EF4-FFF2-40B4-BE49-F238E27FC236}">
                <a16:creationId xmlns:a16="http://schemas.microsoft.com/office/drawing/2014/main" id="{66E855C5-3F7E-CED9-3603-4DA1515CC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243" y="2368107"/>
            <a:ext cx="265175" cy="265175"/>
          </a:xfrm>
          <a:prstGeom prst="rect">
            <a:avLst/>
          </a:prstGeom>
        </p:spPr>
      </p:pic>
      <p:pic>
        <p:nvPicPr>
          <p:cNvPr id="33" name="Picture 32" descr="git-branch-blue.png">
            <a:extLst>
              <a:ext uri="{FF2B5EF4-FFF2-40B4-BE49-F238E27FC236}">
                <a16:creationId xmlns:a16="http://schemas.microsoft.com/office/drawing/2014/main" id="{8B727A2F-6E0A-C94E-0406-81CBEABA6A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145348"/>
            <a:ext cx="265175" cy="265175"/>
          </a:xfrm>
          <a:prstGeom prst="rect">
            <a:avLst/>
          </a:prstGeom>
        </p:spPr>
      </p:pic>
      <p:pic>
        <p:nvPicPr>
          <p:cNvPr id="34" name="Picture 33" descr="check-amber.png">
            <a:extLst>
              <a:ext uri="{FF2B5EF4-FFF2-40B4-BE49-F238E27FC236}">
                <a16:creationId xmlns:a16="http://schemas.microsoft.com/office/drawing/2014/main" id="{914685B0-3F58-4438-CFFB-2FD38E94A9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30145"/>
            <a:ext cx="265175" cy="265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— SLIDE 1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BFS Crawling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114800" cy="13990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45720" cy="138074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Breadth-First Search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Queue-based traversal from configurable seed URL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Stops at MAX_CRAWL_PAGES (300) or when URL queue exhausted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JDBM commits every 10 pages for crash recovery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2040" y="1417320"/>
            <a:ext cx="374904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4892040" y="1417320"/>
            <a:ext cx="374904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07492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Per Page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120640" y="2029968"/>
            <a:ext cx="292608" cy="292608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5120640" y="20299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32120" y="19933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URL (3 pre-crawl checks)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57800" y="2340864"/>
            <a:ext cx="18288" cy="128016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120640" y="2487168"/>
            <a:ext cx="292608" cy="292608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5120640" y="2487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32120" y="2450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request to check Last-Modified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57800" y="2798064"/>
            <a:ext cx="18288" cy="128016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5120640" y="2944368"/>
            <a:ext cx="292608" cy="292608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5120640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32120" y="29077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page body (HTML)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257800" y="3255264"/>
            <a:ext cx="18288" cy="128016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5120640" y="3401568"/>
            <a:ext cx="292608" cy="292608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5120640" y="34015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32120" y="33649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page content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57800" y="3712464"/>
            <a:ext cx="18288" cy="128016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5120640" y="3858768"/>
            <a:ext cx="292608" cy="292608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5120640" y="38587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32120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Enqueue child links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— SLIDE 2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Pre-Crawl Validation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035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85800" y="1600200"/>
            <a:ext cx="438912" cy="438912"/>
          </a:xfrm>
          <a:prstGeom prst="lin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25880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Circular Link Protection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192024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if URL already processed in this session — prevents infinite loops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" y="2377440"/>
            <a:ext cx="53035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685800" y="2560320"/>
            <a:ext cx="438912" cy="438912"/>
          </a:xfrm>
          <a:prstGeom prst="lin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5603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25880" y="24505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25880" y="26517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Existence Check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25880" y="28803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 if URL not yet in JDBM index — new page always fetched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337560"/>
            <a:ext cx="530352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85800" y="3520440"/>
            <a:ext cx="438912" cy="438912"/>
          </a:xfrm>
          <a:prstGeom prst="lin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25880" y="34107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25880" y="3611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Update Check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25880" y="38404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HTTP Last-Modified with stored timestamp; skip if unchanged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80760" y="1417320"/>
            <a:ext cx="2560320" cy="2788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080760" y="1417320"/>
            <a:ext cx="256032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263640" y="1572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Logic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43861" y="2011680"/>
            <a:ext cx="231433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Last-Modified header → use current time (always re-index)</a:t>
            </a:r>
            <a:endParaRPr lang="en-US" sz="1050" dirty="0"/>
          </a:p>
          <a:p>
            <a:pPr marL="342900" indent="-342900">
              <a:lnSpc>
                <a:spcPct val="160000"/>
              </a:lnSpc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Content-Length → derive page size from HTML content length</a:t>
            </a:r>
            <a:endParaRPr lang="en-US" sz="1050" dirty="0"/>
          </a:p>
        </p:txBody>
      </p:sp>
      <p:pic>
        <p:nvPicPr>
          <p:cNvPr id="28" name="Picture 27" descr="shield-check-amber.png">
            <a:extLst>
              <a:ext uri="{FF2B5EF4-FFF2-40B4-BE49-F238E27FC236}">
                <a16:creationId xmlns:a16="http://schemas.microsoft.com/office/drawing/2014/main" id="{679BC809-8DDB-8D40-7811-8CE4E59EF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1673352"/>
            <a:ext cx="301752" cy="301752"/>
          </a:xfrm>
          <a:prstGeom prst="rect">
            <a:avLst/>
          </a:prstGeom>
        </p:spPr>
      </p:pic>
      <p:pic>
        <p:nvPicPr>
          <p:cNvPr id="29" name="Picture 28" descr="image.png">
            <a:extLst>
              <a:ext uri="{FF2B5EF4-FFF2-40B4-BE49-F238E27FC236}">
                <a16:creationId xmlns:a16="http://schemas.microsoft.com/office/drawing/2014/main" id="{4ED92094-680D-A65B-12CF-DA67F3F55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2633472"/>
            <a:ext cx="301752" cy="301752"/>
          </a:xfrm>
          <a:prstGeom prst="rect">
            <a:avLst/>
          </a:prstGeom>
        </p:spPr>
      </p:pic>
      <p:pic>
        <p:nvPicPr>
          <p:cNvPr id="30" name="Picture 29" descr="book-open-blue.png">
            <a:extLst>
              <a:ext uri="{FF2B5EF4-FFF2-40B4-BE49-F238E27FC236}">
                <a16:creationId xmlns:a16="http://schemas.microsoft.com/office/drawing/2014/main" id="{BFD1C1C5-27E7-8EF5-CBB1-3C176333A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" y="3593592"/>
            <a:ext cx="301752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— SLIDE 3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Extraction &amp; Link Graph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114800" cy="20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4114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Per Page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title (extracted from HTML &lt;title&gt;)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2585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Last-modified timestamp (from HTTP header)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551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size in bytes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843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Top-5 stemmed keywords for relevance feedback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92040" y="1417320"/>
            <a:ext cx="3749040" cy="20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4892040" y="1417320"/>
            <a:ext cx="374904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07492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Graph Structure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19659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childLinks: parent PageID → list of child PageIDs</a:t>
            </a:r>
            <a:endParaRPr lang="en-US" sz="1000" dirty="0"/>
          </a:p>
          <a:p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parentLinks: child PageID → list of parent PageIDs</a:t>
            </a:r>
            <a:endParaRPr lang="en-US" sz="1000" dirty="0"/>
          </a:p>
          <a:p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Bidirectional URL↔ID maps via PageIDMapper</a:t>
            </a:r>
            <a:endParaRPr lang="en-US" sz="1000" dirty="0"/>
          </a:p>
          <a:p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integer PageID assignment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811560"/>
            <a:ext cx="81381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502920" y="3811560"/>
            <a:ext cx="68580" cy="7772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777240" y="38755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Extraction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1316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HTMLParser 2.1 parses &lt;a href&gt; tags from fetched pages. Relative URLs resolved to absolute using base URL. All links validated and normalized before enqueuing.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— SLIDE 4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Profiling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56032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877824" y="1527048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Crawled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075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fetched from configurable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URL via BFS traversal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560320" cy="36576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621024" y="1527048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Fetch Time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83280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~450 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2075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Per-page HTTP request + response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including network latency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989320" y="1417320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989320" y="1417320"/>
            <a:ext cx="256032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364224" y="1527048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Index Time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0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~320 ms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126480" y="207568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preprocessing + posting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time per page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02920" y="2804912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502920" y="2804912"/>
            <a:ext cx="2560320" cy="36576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877824" y="2914640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Index Size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309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 MB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40080" y="346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JDBM database files across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persistent HTrees on disk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46120" y="2804912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3246120" y="2804912"/>
            <a:ext cx="256032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3593592" y="2914640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 Extracted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83280" y="309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~4,500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383280" y="346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Outbound links discovered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all crawled pages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989320" y="2804912"/>
            <a:ext cx="256032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5989320" y="2804912"/>
            <a:ext cx="2560320" cy="36576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364224" y="2914640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 Usage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26480" y="309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~180 MB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126480" y="34632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heap usage during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crawl and index build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451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Performance measured on a single-threaded crawler. Parallelization would significantly reduce total crawl time.</a:t>
            </a:r>
            <a:endParaRPr lang="en-US" sz="900" dirty="0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536192"/>
            <a:ext cx="182880" cy="18288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536192"/>
            <a:ext cx="182880" cy="18288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1536192"/>
            <a:ext cx="182880" cy="18288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2926080"/>
            <a:ext cx="182880" cy="18288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0712" y="2926080"/>
            <a:ext cx="182880" cy="182880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2926080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CRAWLER — SLIDE 5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 — PageRank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572000" cy="31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4572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Link-Based Authority Scoring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212848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power-iteration PageRank on the crawled link graph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Damping factor: 0.85 (standard)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 threshold: 1e-6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 after crawl completes using parentLinks/childLinks HTrees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324168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Blending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500000"/>
            <a:ext cx="420624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final_score = cosine_similarity × (1 − PR_WEIGHT) + pagerank × PR_WEIGHT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PR_WEIGHT configurable in Config.java — blends TF-IDF relevance with link authority</a:t>
            </a:r>
            <a:endParaRPr lang="en-US" sz="1000" dirty="0"/>
          </a:p>
          <a:p>
            <a:pPr marL="0" indent="0">
              <a:lnSpc>
                <a:spcPct val="130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 pages (many inbound links) rank higher for relevant queries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49240" y="1417320"/>
            <a:ext cx="3291840" cy="31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5349240" y="1417320"/>
            <a:ext cx="329184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5321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1691640"/>
            <a:ext cx="822960" cy="822960"/>
          </a:xfrm>
          <a:prstGeom prst="lin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58368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479792" y="1691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2514600"/>
            <a:ext cx="640080" cy="640080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675120" y="2514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88352" y="2514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39128" y="3127248"/>
            <a:ext cx="512064" cy="512064"/>
          </a:xfrm>
          <a:prstGeom prst="lin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739128" y="31272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24344" y="31272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95160" y="2542032"/>
            <a:ext cx="18288" cy="256032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182112"/>
            <a:ext cx="18288" cy="182880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SLIDE 1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Interface — Servlets &amp; JSP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813816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68580" cy="8046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77240" y="1490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SearchServlet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14904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/search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7240" y="176479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query parameter, invokes SearchEngine.search(). Forwards results, query, resultCount to result.jsp. Handles 'similar' parameter for relevance feedback.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2427440"/>
            <a:ext cx="813816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2427440"/>
            <a:ext cx="68580" cy="804672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777240" y="2500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KeywordBrowseServlet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250059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/keywords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277491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Paginated keyword index browser. Lists all indexed stems with links for quick exploration of the crawled vocabulary.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437560"/>
            <a:ext cx="8138160" cy="80467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502920" y="3437560"/>
            <a:ext cx="68580" cy="804672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777240" y="35107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SuggestServlet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00400" y="351071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/suggest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77240" y="37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autocomplete endpoint. Queries JDBM indexes for prefix matches and returns JSON array of matching stems.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4289080"/>
            <a:ext cx="813816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502920" y="4289080"/>
            <a:ext cx="68580" cy="594360"/>
          </a:xfrm>
          <a:prstGeom prst="rect">
            <a:avLst/>
          </a:prstGeom>
          <a:solidFill>
            <a:srgbClr val="1E1E1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77240" y="4353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Components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459083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CharacterEncodingFilter enforces UTF-8 on all requests/responses  ·  JSP pages: index.jsp, result.jsp, keywords.jsp</a:t>
            </a:r>
            <a:endParaRPr lang="en-US" sz="1000" dirty="0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481328"/>
            <a:ext cx="182880" cy="18288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487168"/>
            <a:ext cx="182880" cy="18288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493008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SLIDE 2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Result Display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846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484632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685800" y="1627632"/>
            <a:ext cx="822960" cy="34747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85800" y="162763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0.8742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45920" y="16276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Title — Clickable Link to Source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45920" y="18470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https://example.com/path/to/page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214884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Modified: 2024-02-15  ·  Size: 24.5 KB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4231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Keywords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26060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 ·  search  ·  data  ·  comput  ·  network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Links: 3  ·  Child Links: 12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200400"/>
            <a:ext cx="4389120" cy="7315"/>
          </a:xfrm>
          <a:prstGeom prst="rect">
            <a:avLst/>
          </a:prstGeom>
          <a:solidFill>
            <a:srgbClr val="A8A29E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685800" y="3310128"/>
            <a:ext cx="2011680" cy="34747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85800" y="33101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Similar Pages →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23560" y="1417320"/>
            <a:ext cx="30175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623560" y="1417320"/>
            <a:ext cx="3017520" cy="54864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806440" y="15727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Result Contains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6440" y="20116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 score (TF-IDF + PageRank blend)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06440" y="23591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title (clickable link) and URL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06440" y="270662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Last-modified date and page size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06440" y="30540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stemmed keywords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06440" y="340156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links and child links count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06440" y="37490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"Get Similar Pages" action button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448000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count displayed above the list.  ·  "Get Similar Pages" triggers relevance feedback via top-5 keyword re-query.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SLIDE 3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 — Autocomplete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4114800" cy="324536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4114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14400" y="15727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011680"/>
            <a:ext cx="3200400" cy="411480"/>
          </a:xfrm>
          <a:prstGeom prst="rect">
            <a:avLst/>
          </a:prstGeom>
          <a:solidFill>
            <a:srgbClr val="FAF8F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914400" y="2011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comp...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32004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960120" y="2542032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60120" y="274320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60120" y="2944368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3145536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60120" y="3346704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35700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800000"/>
            <a:ext cx="374904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suggestions as you type</a:t>
            </a:r>
            <a:endParaRPr lang="en-US" sz="1000" dirty="0"/>
          </a:p>
          <a:p>
            <a:pPr marL="0" indent="0">
              <a:lnSpc>
                <a:spcPct val="16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full-page reload required</a:t>
            </a:r>
            <a:endParaRPr lang="en-US" sz="1000" dirty="0"/>
          </a:p>
          <a:p>
            <a:pPr marL="0" indent="0">
              <a:lnSpc>
                <a:spcPct val="160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can see indexed vocabulary before committing to a query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1417320"/>
            <a:ext cx="3749040" cy="324536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4892040" y="1417320"/>
            <a:ext cx="374904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248656" y="1572768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Details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011680"/>
            <a:ext cx="3383280" cy="233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Endpoint: GET /suggest?q=prefix</a:t>
            </a:r>
            <a:endParaRPr lang="en-US" sz="105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JSON array of strings</a:t>
            </a:r>
            <a:endParaRPr lang="en-US" sz="105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JDBM titleIndex and bodyIndex for prefix matches on stemmed terms</a:t>
            </a:r>
            <a:endParaRPr lang="en-US" sz="105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matching stems sorted by frequency</a:t>
            </a:r>
            <a:endParaRPr lang="en-US" sz="1050" dirty="0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91056"/>
            <a:ext cx="201168" cy="201168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591056"/>
            <a:ext cx="201168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SLIDE 4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 — Similar Pages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612648" y="1417320"/>
            <a:ext cx="1828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612648" y="14173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1252728" y="1627632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252728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49808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clicks "Get Similar Pages"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any search result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42616" y="1417320"/>
            <a:ext cx="1828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2642616" y="14173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3282696" y="1627632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3282696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779776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Keywords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79776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SimilarPageRecommender reads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top-5 stored keywords from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pageMetadata HTree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72584" y="1417320"/>
            <a:ext cx="1828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4672584" y="14173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312664" y="1627632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5312664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809744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Query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9744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 joined into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automatic re-query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2552" y="1417320"/>
            <a:ext cx="18288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6702552" y="14173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7342632" y="1627632"/>
            <a:ext cx="548640" cy="548640"/>
          </a:xfrm>
          <a:prstGeom prst="lin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7342632" y="1627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839712" y="2331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Results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39712" y="2606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show pages similar</a:t>
            </a:r>
            <a:endParaRPr lang="en-US" sz="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the selected page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40487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3253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60192" y="2331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8716C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02920" y="3749040"/>
            <a:ext cx="813816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502920" y="3749040"/>
            <a:ext cx="68580" cy="68580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777240" y="382219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Principle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" y="406908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reuses SearchEngine.search() — zero code duplication. Display shows "Similar pages for: &lt;keyword1&gt; &lt;keyword2&gt; ..."</a:t>
            </a:r>
            <a:endParaRPr lang="en-US" sz="1000" dirty="0"/>
          </a:p>
        </p:txBody>
      </p:sp>
      <p:pic>
        <p:nvPicPr>
          <p:cNvPr id="37" name="Picture 36" descr="mouse-pointer-amber.png">
            <a:extLst>
              <a:ext uri="{FF2B5EF4-FFF2-40B4-BE49-F238E27FC236}">
                <a16:creationId xmlns:a16="http://schemas.microsoft.com/office/drawing/2014/main" id="{95285047-CB63-1B8A-6FFF-1155EDA67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087" y="1773936"/>
            <a:ext cx="320040" cy="320040"/>
          </a:xfrm>
          <a:prstGeom prst="rect">
            <a:avLst/>
          </a:prstGeom>
        </p:spPr>
      </p:pic>
      <p:pic>
        <p:nvPicPr>
          <p:cNvPr id="38" name="Picture 37" descr="book-open-blue.png">
            <a:extLst>
              <a:ext uri="{FF2B5EF4-FFF2-40B4-BE49-F238E27FC236}">
                <a16:creationId xmlns:a16="http://schemas.microsoft.com/office/drawing/2014/main" id="{EBB9F10E-3C09-2DC0-CF24-864C9A08A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3056" y="1773936"/>
            <a:ext cx="320040" cy="320040"/>
          </a:xfrm>
          <a:prstGeom prst="rect">
            <a:avLst/>
          </a:prstGeom>
        </p:spPr>
      </p:pic>
      <p:pic>
        <p:nvPicPr>
          <p:cNvPr id="39" name="Picture 38" descr="image.png">
            <a:extLst>
              <a:ext uri="{FF2B5EF4-FFF2-40B4-BE49-F238E27FC236}">
                <a16:creationId xmlns:a16="http://schemas.microsoft.com/office/drawing/2014/main" id="{B8303B57-D20A-1DEA-E1E4-956FA9773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3024" y="1773936"/>
            <a:ext cx="320040" cy="320040"/>
          </a:xfrm>
          <a:prstGeom prst="rect">
            <a:avLst/>
          </a:prstGeom>
        </p:spPr>
      </p:pic>
      <p:pic>
        <p:nvPicPr>
          <p:cNvPr id="40" name="Picture 39" descr="monitor-blue.png">
            <a:extLst>
              <a:ext uri="{FF2B5EF4-FFF2-40B4-BE49-F238E27FC236}">
                <a16:creationId xmlns:a16="http://schemas.microsoft.com/office/drawing/2014/main" id="{9506A6DF-FE65-748C-49B2-B2B193327A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2992" y="1773936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SLIDE 5 OF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Enhancement — Query History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93192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Storage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Recent searches stored in browser localStorage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Displayed on homepage below search box for quick re-access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N recent queries shown; oldest drop off automatically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across browser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31720"/>
            <a:ext cx="32004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24231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"data mining" research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"hong kong" university</a:t>
            </a:r>
            <a:endParaRPr lang="en-US" sz="9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3192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4892040" y="1572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Simplicity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2040" y="20116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only — no server storage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Respects user privacy by default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re-access without retyping previous queries</a:t>
            </a:r>
            <a:endParaRPr lang="en-US" sz="1100" dirty="0"/>
          </a:p>
          <a:p>
            <a:pPr marL="0" indent="0">
              <a:lnSpc>
                <a:spcPct val="2000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backend dependency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3680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point: localStorage API provides persistent key-value store across browser sessions with zero backend dependency.</a:t>
            </a:r>
            <a:endParaRPr lang="en-US" sz="95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592341"/>
            <a:ext cx="201168" cy="201168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481328"/>
            <a:ext cx="201168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Demonstration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2560320" cy="45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927624" y="1527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Search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7624" y="1801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Shape 9"/>
          <p:cNvSpPr/>
          <p:nvPr/>
        </p:nvSpPr>
        <p:spPr>
          <a:xfrm>
            <a:off x="3291840" y="1417320"/>
            <a:ext cx="2560320" cy="4572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3670824" y="1527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Phrase Search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70824" y="1801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"hong kong"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35040" y="1417320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035040" y="1417320"/>
            <a:ext cx="2560320" cy="4572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414024" y="1527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 Query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14024" y="18013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"data mining" research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450592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48640" y="2450592"/>
            <a:ext cx="2560320" cy="45720"/>
          </a:xfrm>
          <a:prstGeom prst="rect">
            <a:avLst/>
          </a:prstGeom>
          <a:solidFill>
            <a:srgbClr val="0284C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927624" y="2560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7624" y="28346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comp...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91840" y="2450592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3291840" y="2450592"/>
            <a:ext cx="2560320" cy="457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3670824" y="2560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 Pages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670824" y="28346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"Get Similar"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35040" y="2450592"/>
            <a:ext cx="256032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6035040" y="2450592"/>
            <a:ext cx="2560320" cy="45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414024" y="2560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Browser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14024" y="28346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/keywords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02920" y="44000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each scenario live to demonstrate the complete search engine functionality.</a:t>
            </a:r>
            <a:endParaRPr lang="en-US" sz="1000" dirty="0"/>
          </a:p>
        </p:txBody>
      </p:sp>
      <p:pic>
        <p:nvPicPr>
          <p:cNvPr id="35" name="Picture 30" descr="image.png">
            <a:extLst>
              <a:ext uri="{FF2B5EF4-FFF2-40B4-BE49-F238E27FC236}">
                <a16:creationId xmlns:a16="http://schemas.microsoft.com/office/drawing/2014/main" id="{AC8C1034-31F3-A521-EC04-5F1D7C7AA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39" y="1723529"/>
            <a:ext cx="225953" cy="225953"/>
          </a:xfrm>
          <a:prstGeom prst="rect">
            <a:avLst/>
          </a:prstGeom>
        </p:spPr>
      </p:pic>
      <p:pic>
        <p:nvPicPr>
          <p:cNvPr id="36" name="Picture 31" descr="quote-amber.png">
            <a:extLst>
              <a:ext uri="{FF2B5EF4-FFF2-40B4-BE49-F238E27FC236}">
                <a16:creationId xmlns:a16="http://schemas.microsoft.com/office/drawing/2014/main" id="{569DD35E-EB25-20C1-1925-4DE56EF90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339" y="1723529"/>
            <a:ext cx="225953" cy="225953"/>
          </a:xfrm>
          <a:prstGeom prst="rect">
            <a:avLst/>
          </a:prstGeom>
        </p:spPr>
      </p:pic>
      <p:pic>
        <p:nvPicPr>
          <p:cNvPr id="37" name="Picture 32" descr="image.png">
            <a:extLst>
              <a:ext uri="{FF2B5EF4-FFF2-40B4-BE49-F238E27FC236}">
                <a16:creationId xmlns:a16="http://schemas.microsoft.com/office/drawing/2014/main" id="{958CE124-9197-E479-E523-332A7DB5D0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4539" y="1723529"/>
            <a:ext cx="225953" cy="225953"/>
          </a:xfrm>
          <a:prstGeom prst="rect">
            <a:avLst/>
          </a:prstGeom>
        </p:spPr>
      </p:pic>
      <p:pic>
        <p:nvPicPr>
          <p:cNvPr id="38" name="Picture 33" descr="image.png">
            <a:extLst>
              <a:ext uri="{FF2B5EF4-FFF2-40B4-BE49-F238E27FC236}">
                <a16:creationId xmlns:a16="http://schemas.microsoft.com/office/drawing/2014/main" id="{711AA843-0D92-7DB4-1755-B4729ADA7E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39" y="2756801"/>
            <a:ext cx="225953" cy="225953"/>
          </a:xfrm>
          <a:prstGeom prst="rect">
            <a:avLst/>
          </a:prstGeom>
        </p:spPr>
      </p:pic>
      <p:pic>
        <p:nvPicPr>
          <p:cNvPr id="39" name="Picture 34" descr="image.png">
            <a:extLst>
              <a:ext uri="{FF2B5EF4-FFF2-40B4-BE49-F238E27FC236}">
                <a16:creationId xmlns:a16="http://schemas.microsoft.com/office/drawing/2014/main" id="{D2632D84-54EA-7D5D-89F3-DBCB802C95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1339" y="2756801"/>
            <a:ext cx="225953" cy="225953"/>
          </a:xfrm>
          <a:prstGeom prst="rect">
            <a:avLst/>
          </a:prstGeom>
        </p:spPr>
      </p:pic>
      <p:pic>
        <p:nvPicPr>
          <p:cNvPr id="40" name="Picture 35" descr="list-gray.png">
            <a:extLst>
              <a:ext uri="{FF2B5EF4-FFF2-40B4-BE49-F238E27FC236}">
                <a16:creationId xmlns:a16="http://schemas.microsoft.com/office/drawing/2014/main" id="{8E2E287A-2B76-2FAE-BB5C-5AF94E24FD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14539" y="2756801"/>
            <a:ext cx="225953" cy="22595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&amp; 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115568"/>
            <a:ext cx="1097280" cy="1371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assignment implementation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3682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JDBM disk-based persistence (no in-memory-only data)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7706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phrase search with position-based verification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0080" y="3172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boost + PageRank blend for improved ranking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35753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modular architecture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00400" y="141732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300400" y="1417320"/>
            <a:ext cx="256032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3756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3756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Single-threaded crawler (could be parallelized for speed)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37560" y="23682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incremental index updates (re-crawl required for changes)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97880" y="141732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097880" y="1417320"/>
            <a:ext cx="256032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23504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35040" y="19659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Multi-threaded / distributed crawling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235040" y="236829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HITS algorithm for hub/authority scoring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235040" y="27706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Snippet generation with keyword highlighting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235040" y="31729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support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4380000"/>
            <a:ext cx="8138160" cy="365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502920" y="4380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CSIT5930 Web Search Engine  —  BFS Crawling  ·  Dual Inverted Index  ·  TF-IDF Ranking  ·  Phrase Search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1634</Words>
  <Application>Microsoft Macintosh PowerPoint</Application>
  <PresentationFormat>全屏显示(16:9)</PresentationFormat>
  <Paragraphs>353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Arial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CSIT5930 Web Search Engine</dc:title>
  <dc:subject>PptxGenJS Presentation</dc:subject>
  <dc:creator>HKUST CSIT5930</dc:creator>
  <cp:lastModifiedBy>LI Jinchuan</cp:lastModifiedBy>
  <cp:revision>12</cp:revision>
  <dcterms:created xsi:type="dcterms:W3CDTF">2026-04-26T06:53:29Z</dcterms:created>
  <dcterms:modified xsi:type="dcterms:W3CDTF">2026-04-26T11:25:38Z</dcterms:modified>
</cp:coreProperties>
</file>