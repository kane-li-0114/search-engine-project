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2CF43-23AD-B2E0-4EF6-3664A0DA2266}" v="27" dt="2026-04-24T12:51:00.192"/>
    <p1510:client id="{C38CC246-E40F-3A60-6777-81ABF52B4BE6}" v="237" dt="2026-04-24T13:18:57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38BA6-1872-418B-A09A-39B774D70213}" type="datetimeFigureOut">
              <a:t>2026/4/25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96796-4F7E-447B-9ACC-915775D1418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076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96796-4F7E-447B-9ACC-915775D1418E}" type="slidenum"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50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7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42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0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16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2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50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3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8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2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5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304589"/>
            <a:ext cx="9144000" cy="1138878"/>
          </a:xfrm>
        </p:spPr>
        <p:txBody>
          <a:bodyPr/>
          <a:lstStyle/>
          <a:p>
            <a:r>
              <a:rPr lang="ru-RU">
                <a:ea typeface="+mj-lt"/>
                <a:cs typeface="+mj-lt"/>
              </a:rPr>
              <a:t>CSIT5930 Search Engine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51077" y="1446924"/>
            <a:ext cx="4711557" cy="45635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>
                <a:solidFill>
                  <a:srgbClr val="000000"/>
                </a:solidFill>
                <a:latin typeface="Aptos"/>
              </a:rPr>
              <a:t>A Full-Featured Search Engine with BFS Crawling, TF-IDF Ranking, and Phrase Search</a:t>
            </a:r>
            <a:endParaRPr lang="ru-RU"/>
          </a:p>
          <a:p>
            <a:pPr algn="l">
              <a:lnSpc>
                <a:spcPct val="100000"/>
              </a:lnSpc>
            </a:pPr>
            <a:endParaRPr lang="ru-RU"/>
          </a:p>
          <a:p>
            <a:pPr algn="l">
              <a:lnSpc>
                <a:spcPct val="100000"/>
              </a:lnSpc>
            </a:pPr>
            <a:r>
              <a:rPr lang="ru-RU"/>
              <a:t>Prepared by,</a:t>
            </a:r>
          </a:p>
          <a:p>
            <a:pPr algn="l">
              <a:lnSpc>
                <a:spcPct val="100000"/>
              </a:lnSpc>
            </a:pPr>
            <a:r>
              <a:rPr lang="ru-RU"/>
              <a:t>1.</a:t>
            </a:r>
          </a:p>
          <a:p>
            <a:pPr algn="l">
              <a:lnSpc>
                <a:spcPct val="100000"/>
              </a:lnSpc>
            </a:pPr>
            <a:r>
              <a:rPr lang="ru-RU"/>
              <a:t>2.</a:t>
            </a:r>
          </a:p>
          <a:p>
            <a:pPr algn="l">
              <a:lnSpc>
                <a:spcPct val="100000"/>
              </a:lnSpc>
            </a:pPr>
            <a:r>
              <a:rPr lang="ru-RU"/>
              <a:t>3. TURTAYEV Yerlan (21262869)</a:t>
            </a:r>
          </a:p>
        </p:txBody>
      </p:sp>
      <p:pic>
        <p:nvPicPr>
          <p:cNvPr id="4" name="Рисунок 3" descr="Play Google Gravity - elgooG">
            <a:extLst>
              <a:ext uri="{FF2B5EF4-FFF2-40B4-BE49-F238E27FC236}">
                <a16:creationId xmlns:a16="http://schemas.microsoft.com/office/drawing/2014/main" id="{8780F622-23E5-4D0B-1D3D-A041F3FAD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585" y="1444923"/>
            <a:ext cx="4435416" cy="434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1667E-6129-A134-85A4-E44938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+mj-lt"/>
                <a:cs typeface="+mj-lt"/>
              </a:rPr>
              <a:t>System Architecture Overview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F0BC16-15D0-8E82-EDFF-1B1FB8502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040"/>
            <a:ext cx="10328694" cy="172747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ru-RU" sz="2000">
                <a:solidFill>
                  <a:srgbClr val="000000"/>
                </a:solidFill>
                <a:latin typeface="Aptos"/>
              </a:rPr>
              <a:t>Four Main Modules: Crawler Module, Indexer Module,  Search Module , Web Module</a:t>
            </a:r>
            <a:endParaRPr lang="ru-RU" sz="2000"/>
          </a:p>
          <a:p>
            <a:pPr>
              <a:lnSpc>
                <a:spcPct val="120000"/>
              </a:lnSpc>
            </a:pPr>
            <a:r>
              <a:rPr lang="ru-RU" sz="2000">
                <a:solidFill>
                  <a:srgbClr val="000000"/>
                </a:solidFill>
                <a:latin typeface="Aptos"/>
              </a:rPr>
              <a:t>Data flow: Crawler → Indexer → JDBM Storage ← Search Engine ← Web Interface</a:t>
            </a:r>
            <a:endParaRPr lang="ru-RU" sz="2000">
              <a:latin typeface="Aptos"/>
            </a:endParaRPr>
          </a:p>
          <a:p>
            <a:pPr>
              <a:lnSpc>
                <a:spcPct val="120000"/>
              </a:lnSpc>
            </a:pPr>
            <a:r>
              <a:rPr lang="ru-RU" sz="2000">
                <a:solidFill>
                  <a:srgbClr val="000000"/>
                </a:solidFill>
                <a:latin typeface="Aptos"/>
              </a:rPr>
              <a:t>JDBM as the central data store - all core data persisted to disk (no in-memory storage)</a:t>
            </a:r>
            <a:endParaRPr lang="ru-RU" sz="2000"/>
          </a:p>
        </p:txBody>
      </p:sp>
      <p:pic>
        <p:nvPicPr>
          <p:cNvPr id="5" name="Рисунок 4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577E4A-6DFA-79ED-1FA8-BE6A1596B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255" y="3076755"/>
            <a:ext cx="4902679" cy="326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1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CCF53-4C54-2E2D-237A-D92A3E64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Aptos Display"/>
              </a:rPr>
              <a:t>Index Database File Structure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41D75B-C83B-A01A-8FBC-5D8523960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200">
                <a:solidFill>
                  <a:srgbClr val="000000"/>
                </a:solidFill>
                <a:latin typeface="Aptos"/>
              </a:rPr>
              <a:t>JDBM-based persistent storage with 8 separate HTrees:</a:t>
            </a:r>
            <a:br>
              <a:rPr lang="ru-RU" sz="2200">
                <a:latin typeface="Aptos"/>
              </a:rPr>
            </a:br>
            <a:r>
              <a:rPr lang="ru-RU" sz="2200">
                <a:solidFill>
                  <a:srgbClr val="000000"/>
                </a:solidFill>
                <a:latin typeface="Aptos"/>
              </a:rPr>
              <a:t>  - `url2id` - URL to PageID mapping (bidirectional with id2url)</a:t>
            </a:r>
            <a:br>
              <a:rPr lang="ru-RU" sz="2200">
                <a:latin typeface="Aptos"/>
              </a:rPr>
            </a:br>
            <a:r>
              <a:rPr lang="ru-RU" sz="2200">
                <a:solidFill>
                  <a:srgbClr val="000000"/>
                </a:solidFill>
                <a:latin typeface="Aptos"/>
              </a:rPr>
              <a:t>  - `id2url` - PageID to URL mapping</a:t>
            </a:r>
            <a:br>
              <a:rPr lang="ru-RU" sz="2200">
                <a:latin typeface="Aptos"/>
              </a:rPr>
            </a:br>
            <a:r>
              <a:rPr lang="ru-RU" sz="2200">
                <a:solidFill>
                  <a:srgbClr val="000000"/>
                </a:solidFill>
                <a:latin typeface="Aptos"/>
              </a:rPr>
              <a:t>  - `parentLinks` - Child-to-parent page relationships</a:t>
            </a:r>
            <a:br>
              <a:rPr lang="ru-RU" sz="2200">
                <a:latin typeface="Aptos"/>
              </a:rPr>
            </a:br>
            <a:r>
              <a:rPr lang="ru-RU" sz="2200">
                <a:solidFill>
                  <a:srgbClr val="000000"/>
                </a:solidFill>
                <a:latin typeface="Aptos"/>
              </a:rPr>
              <a:t>  - `childLinks` - Parent-to-child page relationships</a:t>
            </a:r>
            <a:br>
              <a:rPr lang="ru-RU" sz="2200">
                <a:latin typeface="Aptos"/>
              </a:rPr>
            </a:br>
            <a:r>
              <a:rPr lang="ru-RU" sz="2200">
                <a:solidFill>
                  <a:srgbClr val="000000"/>
                </a:solidFill>
                <a:latin typeface="Aptos"/>
              </a:rPr>
              <a:t>  - `titleIndex` - Title inverted index (stem → PostingList)</a:t>
            </a:r>
            <a:br>
              <a:rPr lang="ru-RU" sz="2200">
                <a:latin typeface="Aptos"/>
              </a:rPr>
            </a:br>
            <a:r>
              <a:rPr lang="ru-RU" sz="2200">
                <a:solidFill>
                  <a:srgbClr val="000000"/>
                </a:solidFill>
                <a:latin typeface="Aptos"/>
              </a:rPr>
              <a:t>  - `bodyIndex` - Body inverted index (stem → PostingList)</a:t>
            </a:r>
            <a:br>
              <a:rPr lang="ru-RU" sz="2200">
                <a:latin typeface="Aptos"/>
              </a:rPr>
            </a:br>
            <a:r>
              <a:rPr lang="ru-RU" sz="2200">
                <a:solidFill>
                  <a:srgbClr val="000000"/>
                </a:solidFill>
                <a:latin typeface="Aptos"/>
              </a:rPr>
              <a:t>  - `pageMetadata` - Page metadata for result display</a:t>
            </a:r>
            <a:br>
              <a:rPr lang="ru-RU" sz="2200">
                <a:latin typeface="Aptos"/>
              </a:rPr>
            </a:br>
            <a:r>
              <a:rPr lang="ru-RU" sz="2200">
                <a:solidFill>
                  <a:srgbClr val="000000"/>
                </a:solidFill>
                <a:latin typeface="Aptos"/>
              </a:rPr>
              <a:t>  - `systemConfig` - System counters (totalDocs, nextPageId)</a:t>
            </a:r>
            <a:endParaRPr lang="ru-RU" sz="2200"/>
          </a:p>
          <a:p>
            <a:r>
              <a:rPr lang="ru-RU" sz="2200">
                <a:solidFill>
                  <a:srgbClr val="000000"/>
                </a:solidFill>
                <a:latin typeface="Aptos"/>
              </a:rPr>
              <a:t>PostingList structure: HashMap&lt;PageID, PostingEntry&gt;</a:t>
            </a:r>
          </a:p>
          <a:p>
            <a:r>
              <a:rPr lang="ru-RU" sz="2200">
                <a:solidFill>
                  <a:srgbClr val="000000"/>
                </a:solidFill>
                <a:latin typeface="Aptos"/>
              </a:rPr>
              <a:t>PostingEntry fields: pageId, termFrequency, maxTermFrequency, positions[]</a:t>
            </a:r>
          </a:p>
          <a:p>
            <a:r>
              <a:rPr lang="ru-RU" sz="2200">
                <a:solidFill>
                  <a:srgbClr val="000000"/>
                </a:solidFill>
                <a:latin typeface="Aptos"/>
              </a:rPr>
              <a:t>Two completely independent inverted indexes for title and body</a:t>
            </a: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292824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3C1D8-2888-97C4-EE9F-5ABAA6834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Aptos Display"/>
              </a:rPr>
              <a:t>Core Algorithms - Text Preprocessing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6A1B4A-358B-04C3-3617-9EEE289F4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solidFill>
                  <a:srgbClr val="000000"/>
                </a:solidFill>
                <a:latin typeface="Aptos"/>
              </a:rPr>
              <a:t>Pipeline (applied consistently for both indexing and querying):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1. Convert to lowercase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2. Tokenize by non-alphabetic characters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3. Filter stopwords using course-provided stopwords.txt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4. Apply Porter Stemming Algorithm (Lab3 implementation)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5. Record position information for phrase search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endParaRPr lang="ru-RU">
              <a:solidFill>
                <a:srgbClr val="000000"/>
              </a:solidFill>
              <a:latin typeface="Aptos"/>
            </a:endParaRPr>
          </a:p>
          <a:p>
            <a:r>
              <a:rPr lang="ru-RU">
                <a:solidFill>
                  <a:srgbClr val="000000"/>
                </a:solidFill>
                <a:latin typeface="Aptos"/>
              </a:rPr>
              <a:t>Position tracking enables phrase search across both title and body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909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D2B5A-DC19-3674-38EC-89739936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Aptos Display"/>
              </a:rPr>
              <a:t>Core Algorithms - TF-IDF and Cosine Similarity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C99231-76E0-CAEF-9D03-3D8EDC05B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sz="2500">
                <a:solidFill>
                  <a:srgbClr val="000000"/>
                </a:solidFill>
                <a:latin typeface="Aptos"/>
              </a:rPr>
              <a:t>TF-IDF Formula:</a:t>
            </a:r>
            <a:br>
              <a:rPr lang="ru-RU" sz="2500">
                <a:latin typeface="Aptos"/>
              </a:rPr>
            </a:br>
            <a:r>
              <a:rPr lang="ru-RU" sz="2500">
                <a:solidFill>
                  <a:srgbClr val="000000"/>
                </a:solidFill>
                <a:latin typeface="Aptos"/>
              </a:rPr>
              <a:t>  - `TF-IDF = (tf × idf) / max(tf)`</a:t>
            </a:r>
            <a:br>
              <a:rPr lang="ru-RU" sz="2500">
                <a:latin typeface="Aptos"/>
              </a:rPr>
            </a:br>
            <a:r>
              <a:rPr lang="ru-RU" sz="2500">
                <a:solidFill>
                  <a:srgbClr val="000000"/>
                </a:solidFill>
                <a:latin typeface="Aptos"/>
              </a:rPr>
              <a:t>  - `idf = ln(N / df)`</a:t>
            </a:r>
            <a:br>
              <a:rPr lang="ru-RU" sz="2500">
                <a:latin typeface="Aptos"/>
              </a:rPr>
            </a:br>
            <a:r>
              <a:rPr lang="ru-RU" sz="2500">
                <a:solidFill>
                  <a:srgbClr val="000000"/>
                </a:solidFill>
                <a:latin typeface="Aptos"/>
              </a:rPr>
              <a:t>  - tf = term frequency in document</a:t>
            </a:r>
            <a:br>
              <a:rPr lang="ru-RU" sz="2500">
                <a:latin typeface="Aptos"/>
              </a:rPr>
            </a:br>
            <a:r>
              <a:rPr lang="ru-RU" sz="2500">
                <a:solidFill>
                  <a:srgbClr val="000000"/>
                </a:solidFill>
                <a:latin typeface="Aptos"/>
              </a:rPr>
              <a:t>  - max(tf) = maximum term frequency across all terms in document</a:t>
            </a:r>
            <a:br>
              <a:rPr lang="ru-RU" sz="2500">
                <a:latin typeface="Aptos"/>
              </a:rPr>
            </a:br>
            <a:r>
              <a:rPr lang="ru-RU" sz="2500">
                <a:solidFill>
                  <a:srgbClr val="000000"/>
                </a:solidFill>
                <a:latin typeface="Aptos"/>
              </a:rPr>
              <a:t>  - N = total number of documents, df = document frequency</a:t>
            </a:r>
            <a:endParaRPr lang="ru-RU" sz="2500"/>
          </a:p>
          <a:p>
            <a:r>
              <a:rPr lang="ru-RU" sz="2500">
                <a:solidFill>
                  <a:srgbClr val="000000"/>
                </a:solidFill>
                <a:latin typeface="Aptos"/>
              </a:rPr>
              <a:t>Cosine Similarity:</a:t>
            </a:r>
            <a:br>
              <a:rPr lang="ru-RU" sz="2500">
                <a:latin typeface="Aptos"/>
              </a:rPr>
            </a:br>
            <a:r>
              <a:rPr lang="ru-RU" sz="2500">
                <a:solidFill>
                  <a:srgbClr val="000000"/>
                </a:solidFill>
                <a:latin typeface="Aptos"/>
              </a:rPr>
              <a:t>  - `cos(q, d) = (q · d) / (|q| × |d|)`</a:t>
            </a:r>
            <a:br>
              <a:rPr lang="ru-RU" sz="2500">
                <a:latin typeface="Aptos"/>
              </a:rPr>
            </a:br>
            <a:r>
              <a:rPr lang="ru-RU" sz="2500">
                <a:solidFill>
                  <a:srgbClr val="000000"/>
                </a:solidFill>
                <a:latin typeface="Aptos"/>
              </a:rPr>
              <a:t>  - Query and document represented as TF-IDF weight vectors</a:t>
            </a:r>
          </a:p>
          <a:p>
            <a:r>
              <a:rPr lang="ru-RU" sz="2500">
                <a:solidFill>
                  <a:srgbClr val="000000"/>
                </a:solidFill>
                <a:latin typeface="Aptos"/>
              </a:rPr>
              <a:t>Title Boost Mechanism:</a:t>
            </a:r>
            <a:br>
              <a:rPr lang="ru-RU" sz="2500">
                <a:latin typeface="Aptos"/>
              </a:rPr>
            </a:br>
            <a:r>
              <a:rPr lang="ru-RU" sz="2500">
                <a:solidFill>
                  <a:srgbClr val="000000"/>
                </a:solidFill>
                <a:latin typeface="Aptos"/>
              </a:rPr>
              <a:t>  - Effective weight = body_tfidf + title_tfidf × TITLE_BOOST_FACTOR (3.0)</a:t>
            </a:r>
            <a:br>
              <a:rPr lang="ru-RU" sz="2500">
                <a:latin typeface="Aptos"/>
              </a:rPr>
            </a:br>
            <a:r>
              <a:rPr lang="ru-RU" sz="2500">
                <a:solidFill>
                  <a:srgbClr val="000000"/>
                </a:solidFill>
                <a:latin typeface="Aptos"/>
              </a:rPr>
              <a:t>  - Title matches significantly boost page ranking</a:t>
            </a:r>
            <a:endParaRPr lang="ru-RU" sz="2500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26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86419-9091-D490-0BE9-CC13A7EB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Aptos Display"/>
              </a:rPr>
              <a:t>Core Algorithms - Phrase Search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E23127-7BC5-B168-AAB5-0D9FFDC62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solidFill>
                  <a:srgbClr val="000000"/>
                </a:solidFill>
                <a:latin typeface="Aptos"/>
              </a:rPr>
              <a:t>Double-quoted phrase support: e.g., `"hong kong" universities`</a:t>
            </a:r>
            <a:endParaRPr lang="ru-RU"/>
          </a:p>
          <a:p>
            <a:r>
              <a:rPr lang="ru-RU">
                <a:solidFill>
                  <a:srgbClr val="000000"/>
                </a:solidFill>
                <a:latin typeface="Aptos"/>
              </a:rPr>
              <a:t>Implementation using position-based matching: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1. Parse quoted phrases from query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2. Look up posting lists for each phrase term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3. Find candidate documents (intersection of posting lists)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4. Verify consecutive positions: term[i+1] at position(term[i]) + 1</a:t>
            </a:r>
          </a:p>
          <a:p>
            <a:r>
              <a:rPr lang="ru-RU">
                <a:solidFill>
                  <a:srgbClr val="000000"/>
                </a:solidFill>
                <a:latin typeface="Aptos"/>
              </a:rPr>
              <a:t>Searches both title and body indexes for phrase matches</a:t>
            </a:r>
          </a:p>
          <a:p>
            <a:r>
              <a:rPr lang="ru-RU">
                <a:solidFill>
                  <a:srgbClr val="000000"/>
                </a:solidFill>
                <a:latin typeface="Aptos"/>
              </a:rPr>
              <a:t>Combined with regular term matching for mixed queries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00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7D55C2-D807-0C3B-A315-C25CE5BB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Aptos Display"/>
              </a:rPr>
              <a:t>BFS Crawling Strategy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0BF15A-AC27-78E1-04B3-3C7C063A9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solidFill>
                  <a:srgbClr val="000000"/>
                </a:solidFill>
                <a:latin typeface="Aptos"/>
              </a:rPr>
              <a:t>Breadth-First Search starting from seed URL</a:t>
            </a:r>
            <a:endParaRPr lang="ru-RU"/>
          </a:p>
          <a:p>
            <a:r>
              <a:rPr lang="ru-RU">
                <a:solidFill>
                  <a:srgbClr val="000000"/>
                </a:solidFill>
                <a:latin typeface="Aptos"/>
              </a:rPr>
              <a:t>Three mandatory pre-crawl checks: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1. Circular link protection (skip already-processed URLs)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2. Index existence check (allow new URLs)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3. Page update check (re-crawl if modified since last index)</a:t>
            </a:r>
          </a:p>
          <a:p>
            <a:r>
              <a:rPr lang="ru-RU">
                <a:solidFill>
                  <a:srgbClr val="000000"/>
                </a:solidFill>
                <a:latin typeface="Aptos"/>
              </a:rPr>
              <a:t>Metadata extraction: title, body, links, Last-Modified, page size</a:t>
            </a:r>
          </a:p>
          <a:p>
            <a:r>
              <a:rPr lang="ru-RU">
                <a:solidFill>
                  <a:srgbClr val="000000"/>
                </a:solidFill>
                <a:latin typeface="Aptos"/>
              </a:rPr>
              <a:t>Fallback logic: current time if no Last-Modified header; content length from HTML if no Content-Length</a:t>
            </a:r>
          </a:p>
          <a:p>
            <a:r>
              <a:rPr lang="ru-RU">
                <a:solidFill>
                  <a:srgbClr val="000000"/>
                </a:solidFill>
                <a:latin typeface="Aptos"/>
              </a:rPr>
              <a:t>Periodic JDBM commits (every 50 pages) for crash recovery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411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A1C41-6E6E-ECA9-1EEC-A66FA659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Crawler Profiling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AD70E89-A6B7-B86D-AD10-13DCB0B98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810617"/>
              </p:ext>
            </p:extLst>
          </p:nvPr>
        </p:nvGraphicFramePr>
        <p:xfrm>
          <a:off x="2767111" y="1688014"/>
          <a:ext cx="6648229" cy="3460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6572">
                  <a:extLst>
                    <a:ext uri="{9D8B030D-6E8A-4147-A177-3AD203B41FA5}">
                      <a16:colId xmlns:a16="http://schemas.microsoft.com/office/drawing/2014/main" val="1243235335"/>
                    </a:ext>
                  </a:extLst>
                </a:gridCol>
                <a:gridCol w="4231657">
                  <a:extLst>
                    <a:ext uri="{9D8B030D-6E8A-4147-A177-3AD203B41FA5}">
                      <a16:colId xmlns:a16="http://schemas.microsoft.com/office/drawing/2014/main" val="92751853"/>
                    </a:ext>
                  </a:extLst>
                </a:gridCol>
              </a:tblGrid>
              <a:tr h="494344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1800" b="1" i="0" u="none" strike="noStrike" baseline="0" noProof="0">
                          <a:solidFill>
                            <a:srgbClr val="FFFFFF"/>
                          </a:solidFill>
                          <a:latin typeface="Aptos"/>
                        </a:rPr>
                        <a:t>WEB CRAWLER PERFORMANCE ANALYSIS</a:t>
                      </a:r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70667"/>
                  </a:ext>
                </a:extLst>
              </a:tr>
              <a:tr h="49434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Total Time: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~5,971 ms (6.0 seconds)* 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158179"/>
                  </a:ext>
                </a:extLst>
              </a:tr>
              <a:tr h="49434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Pages Crawled: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297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327872"/>
                  </a:ext>
                </a:extLst>
              </a:tr>
              <a:tr h="49434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Throughput: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~49.7 pages/second*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5908564"/>
                  </a:ext>
                </a:extLst>
              </a:tr>
              <a:tr h="49434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Database Size: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18.7 MB (19,652,608 bytes)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323648"/>
                  </a:ext>
                </a:extLst>
              </a:tr>
              <a:tr h="49434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Links Discovered: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588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43305"/>
                  </a:ext>
                </a:extLst>
              </a:tr>
              <a:tr h="494344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Errors: 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70833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D011A8-FD0C-C96D-3328-1F69374B3370}"/>
              </a:ext>
            </a:extLst>
          </p:cNvPr>
          <p:cNvSpPr txBox="1"/>
          <p:nvPr/>
        </p:nvSpPr>
        <p:spPr>
          <a:xfrm>
            <a:off x="8347704" y="5389979"/>
            <a:ext cx="30104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/>
              <a:t>*varies with network speed</a:t>
            </a:r>
          </a:p>
        </p:txBody>
      </p:sp>
    </p:spTree>
    <p:extLst>
      <p:ext uri="{BB962C8B-B14F-4D97-AF65-F5344CB8AC3E}">
        <p14:creationId xmlns:p14="http://schemas.microsoft.com/office/powerpoint/2010/main" val="50817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3D077-27FD-A2B6-CB22-46527529A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Crawler Profiling</a:t>
            </a:r>
            <a:endParaRPr lang="en-US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C1C7269-C673-FFC9-B6F6-A72EAA84E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343722"/>
              </p:ext>
            </p:extLst>
          </p:nvPr>
        </p:nvGraphicFramePr>
        <p:xfrm>
          <a:off x="1748117" y="1688352"/>
          <a:ext cx="8694915" cy="4471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305">
                  <a:extLst>
                    <a:ext uri="{9D8B030D-6E8A-4147-A177-3AD203B41FA5}">
                      <a16:colId xmlns:a16="http://schemas.microsoft.com/office/drawing/2014/main" val="601670445"/>
                    </a:ext>
                  </a:extLst>
                </a:gridCol>
                <a:gridCol w="2898305">
                  <a:extLst>
                    <a:ext uri="{9D8B030D-6E8A-4147-A177-3AD203B41FA5}">
                      <a16:colId xmlns:a16="http://schemas.microsoft.com/office/drawing/2014/main" val="3823888900"/>
                    </a:ext>
                  </a:extLst>
                </a:gridCol>
                <a:gridCol w="2898305">
                  <a:extLst>
                    <a:ext uri="{9D8B030D-6E8A-4147-A177-3AD203B41FA5}">
                      <a16:colId xmlns:a16="http://schemas.microsoft.com/office/drawing/2014/main" val="3513571273"/>
                    </a:ext>
                  </a:extLst>
                </a:gridCol>
              </a:tblGrid>
              <a:tr h="447191"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1800" b="1" i="0" u="none" strike="noStrike" baseline="0" noProof="0">
                          <a:solidFill>
                            <a:srgbClr val="FFFFFF"/>
                          </a:solidFill>
                          <a:latin typeface="Aptos"/>
                        </a:rPr>
                        <a:t>PHASE BREAKDOWN</a:t>
                      </a:r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76087"/>
                  </a:ext>
                </a:extLst>
              </a:tr>
              <a:tr h="44719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Phase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Time (ms)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Percentage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648943"/>
                  </a:ext>
                </a:extLst>
              </a:tr>
              <a:tr h="44719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HTTP Fetching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3,277 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54.9%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803610"/>
                  </a:ext>
                </a:extLst>
              </a:tr>
              <a:tr h="44719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Page Indexing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1,849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31.0%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08016"/>
                  </a:ext>
                </a:extLst>
              </a:tr>
              <a:tr h="44719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Database Commits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773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12.9%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807756"/>
                  </a:ext>
                </a:extLst>
              </a:tr>
              <a:tr h="44719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Link Processing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/>
                        <a:t>52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0.9% 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157091"/>
                  </a:ext>
                </a:extLst>
              </a:tr>
              <a:tr h="44719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URL Validation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11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0.2%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20903"/>
                  </a:ext>
                </a:extLst>
              </a:tr>
              <a:tr h="44719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ID Mapping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2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>
                          <a:latin typeface="Aptos"/>
                        </a:rPr>
                        <a:t>0.0%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5229163"/>
                  </a:ext>
                </a:extLst>
              </a:tr>
              <a:tr h="44719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/>
                        <a:t>Other Overhead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/>
                        <a:t>7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/>
                        <a:t>0.1%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605517"/>
                  </a:ext>
                </a:extLst>
              </a:tr>
              <a:tr h="44719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/>
                        <a:t>TOTAL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/>
                        <a:t>5,971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1800" b="0" i="0" u="none" strike="noStrike" noProof="0"/>
                        <a:t>100%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309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412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01394-C003-F702-6443-2A670B54E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Installation and Running Steps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602BA6-39B7-8B71-F285-9AD0FAE1F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600">
                <a:solidFill>
                  <a:srgbClr val="000000"/>
                </a:solidFill>
                <a:latin typeface="Aptos"/>
              </a:rPr>
              <a:t>1. Prerequisites: Java 8+, Maven 3.6+</a:t>
            </a:r>
            <a:br>
              <a:rPr lang="ru-RU" sz="2600">
                <a:latin typeface="Aptos"/>
              </a:rPr>
            </a:br>
            <a:r>
              <a:rPr lang="ru-RU" sz="2600">
                <a:solidFill>
                  <a:srgbClr val="000000"/>
                </a:solidFill>
                <a:latin typeface="Aptos"/>
              </a:rPr>
              <a:t>2. Build: `mvn clean package`</a:t>
            </a:r>
            <a:br>
              <a:rPr lang="ru-RU" sz="2600">
                <a:latin typeface="Aptos"/>
              </a:rPr>
            </a:br>
            <a:r>
              <a:rPr lang="ru-RU" sz="2600">
                <a:solidFill>
                  <a:srgbClr val="000000"/>
                </a:solidFill>
                <a:latin typeface="Aptos"/>
              </a:rPr>
              <a:t>3. Install dependencies: htmlparser 2.1, JDBM 1.0 (via Maven or local install)</a:t>
            </a:r>
            <a:br>
              <a:rPr lang="ru-RU" sz="2600">
                <a:latin typeface="Aptos"/>
              </a:rPr>
            </a:br>
            <a:r>
              <a:rPr lang="ru-RU" sz="2600">
                <a:solidFill>
                  <a:srgbClr val="000000"/>
                </a:solidFill>
                <a:latin typeface="Aptos"/>
              </a:rPr>
              <a:t>4. Run crawler: `mvn exec:java -Dexec.mainClass="hk.ust.csit5930.search.crawler.Spider"`</a:t>
            </a:r>
            <a:br>
              <a:rPr lang="ru-RU" sz="2600">
                <a:latin typeface="Aptos"/>
              </a:rPr>
            </a:br>
            <a:r>
              <a:rPr lang="ru-RU" sz="2600">
                <a:solidFill>
                  <a:srgbClr val="000000"/>
                </a:solidFill>
                <a:latin typeface="Aptos"/>
              </a:rPr>
              <a:t>5. Build image using Dockerfile: docker build -t search-engine .</a:t>
            </a:r>
            <a:br>
              <a:rPr lang="ru-RU" sz="2600">
                <a:latin typeface="Aptos"/>
              </a:rPr>
            </a:br>
            <a:r>
              <a:rPr lang="ru-RU" sz="2600">
                <a:solidFill>
                  <a:srgbClr val="000000"/>
                </a:solidFill>
                <a:latin typeface="Aptos"/>
              </a:rPr>
              <a:t>6. Run the container: docker run -d -p 8080:8080 --name search-engine search-engine</a:t>
            </a:r>
            <a:endParaRPr lang="ru-RU" sz="2600"/>
          </a:p>
          <a:p>
            <a:r>
              <a:rPr lang="ru-RU" sz="2600">
                <a:solidFill>
                  <a:srgbClr val="000000"/>
                </a:solidFill>
                <a:latin typeface="Aptos"/>
              </a:rPr>
              <a:t>Access: http://localhost:8080/</a:t>
            </a:r>
            <a:endParaRPr lang="ru-RU" sz="2600"/>
          </a:p>
        </p:txBody>
      </p:sp>
    </p:spTree>
    <p:extLst>
      <p:ext uri="{BB962C8B-B14F-4D97-AF65-F5344CB8AC3E}">
        <p14:creationId xmlns:p14="http://schemas.microsoft.com/office/powerpoint/2010/main" val="529142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767B4-0B03-45B6-4B93-8205DF86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Aptos Display"/>
              </a:rPr>
              <a:t>Enhancement - Get Similar Pages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B6B998-8A97-4728-5F85-444BFFABC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>
                <a:solidFill>
                  <a:srgbClr val="000000"/>
                </a:solidFill>
                <a:latin typeface="Aptos"/>
              </a:rPr>
              <a:t>Relevance feedback feature</a:t>
            </a:r>
            <a:endParaRPr lang="ru-RU"/>
          </a:p>
          <a:p>
            <a:r>
              <a:rPr lang="ru-RU">
                <a:solidFill>
                  <a:srgbClr val="000000"/>
                </a:solidFill>
                <a:latin typeface="Aptos"/>
              </a:rPr>
              <a:t>How it works: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1. User clicks "Get Similar Pages" button on any search result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2. System extracts top 5 keywords (stems) from that page's metadata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3. Keywords are used to construct an automatic search query</a:t>
            </a:r>
            <a:br>
              <a:rPr lang="ru-RU">
                <a:solidFill>
                  <a:srgbClr val="000000"/>
                </a:solidFill>
                <a:latin typeface="Aptos"/>
              </a:rPr>
            </a:br>
            <a:r>
              <a:rPr lang="ru-RU">
                <a:solidFill>
                  <a:srgbClr val="000000"/>
                </a:solidFill>
                <a:latin typeface="Aptos"/>
              </a:rPr>
              <a:t>  4. Results show pages similar to the selected page</a:t>
            </a:r>
          </a:p>
          <a:p>
            <a:r>
              <a:rPr lang="ru-RU">
                <a:solidFill>
                  <a:srgbClr val="000000"/>
                </a:solidFill>
                <a:latin typeface="Aptos"/>
              </a:rPr>
              <a:t>Design principle: Reuses existing SearchEngine logic, no code duplication</a:t>
            </a:r>
          </a:p>
          <a:p>
            <a:r>
              <a:rPr lang="ru-RU">
                <a:solidFill>
                  <a:srgbClr val="000000"/>
                </a:solidFill>
                <a:latin typeface="Aptos"/>
              </a:rPr>
              <a:t>Practical use: Helps users discover related content without reformulating queries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077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8FF1E-113A-1D83-FEFE-E61354C8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Test Results and Demo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B12DE6-2E3C-1552-6808-A4C2D32B0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/>
              <a:t>Test scenarios:</a:t>
            </a:r>
            <a:br>
              <a:rPr lang="ru-RU"/>
            </a:br>
            <a:r>
              <a:rPr lang="ru-RU"/>
              <a:t>  - Single keyword search: "algorithm" → relevant results with scores</a:t>
            </a:r>
            <a:br>
              <a:rPr lang="ru-RU"/>
            </a:br>
            <a:r>
              <a:rPr lang="ru-RU"/>
              <a:t>  - Multi-keyword search: "computer science" → combined ranking</a:t>
            </a:r>
            <a:br>
              <a:rPr lang="ru-RU"/>
            </a:br>
            <a:r>
              <a:rPr lang="ru-RU"/>
              <a:t>  - Phrase search: `"hong kong"` → position-verified consecutive matches</a:t>
            </a:r>
            <a:br>
              <a:rPr lang="ru-RU"/>
            </a:br>
            <a:r>
              <a:rPr lang="ru-RU"/>
              <a:t>  - Mixed queries: `"data mining" research` → phrase + individual term</a:t>
            </a:r>
            <a:br>
              <a:rPr lang="ru-RU"/>
            </a:br>
            <a:r>
              <a:rPr lang="ru-RU"/>
              <a:t>  - Similar pages: click button → related pages displayed</a:t>
            </a:r>
          </a:p>
          <a:p>
            <a:r>
              <a:rPr lang="ru-RU"/>
              <a:t>Performance metrics:</a:t>
            </a:r>
            <a:br>
              <a:rPr lang="ru-RU"/>
            </a:br>
            <a:r>
              <a:rPr lang="ru-RU"/>
              <a:t>  - 300 pages crawled successfully</a:t>
            </a:r>
            <a:br>
              <a:rPr lang="ru-RU"/>
            </a:br>
            <a:r>
              <a:rPr lang="ru-RU"/>
              <a:t>  - Index built with dual inverted indexes</a:t>
            </a:r>
            <a:br>
              <a:rPr lang="ru-RU"/>
            </a:br>
            <a:r>
              <a:rPr lang="ru-RU"/>
              <a:t>  - Sub-second search response time</a:t>
            </a:r>
          </a:p>
          <a:p>
            <a:r>
              <a:rPr lang="ru-RU"/>
              <a:t>(Include screenshots of actual search results)</a:t>
            </a:r>
          </a:p>
        </p:txBody>
      </p:sp>
    </p:spTree>
    <p:extLst>
      <p:ext uri="{BB962C8B-B14F-4D97-AF65-F5344CB8AC3E}">
        <p14:creationId xmlns:p14="http://schemas.microsoft.com/office/powerpoint/2010/main" val="4201259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E5005-4E30-B602-DF47-2492F9EB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Aptos Display"/>
              </a:rPr>
              <a:t>Conclusion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1D370E-D1DA-3196-3096-EBA19A9F5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970"/>
            <a:ext cx="10515600" cy="450899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000">
                <a:solidFill>
                  <a:srgbClr val="000000"/>
                </a:solidFill>
                <a:latin typeface="Aptos"/>
              </a:rPr>
              <a:t>System Strengths: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Complete implementation of all assignment requirements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Efficient JDBM-based disk storage (no memory-only data structures)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Accurate phrase search with position-based matching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Title boost mechanism improves result relevance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Clean modular architecture with clear separation of concerns</a:t>
            </a:r>
            <a:endParaRPr lang="ru-RU" sz="2000"/>
          </a:p>
          <a:p>
            <a:r>
              <a:rPr lang="ru-RU" sz="2000">
                <a:solidFill>
                  <a:srgbClr val="000000"/>
                </a:solidFill>
                <a:latin typeface="Aptos"/>
              </a:rPr>
              <a:t>Limitations: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Single-threaded crawler (could be parallelized)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No incremental index updates (full re-index required)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Basic web UI without advanced features (pagination, autocomplete)</a:t>
            </a:r>
          </a:p>
          <a:p>
            <a:r>
              <a:rPr lang="ru-RU" sz="2000">
                <a:solidFill>
                  <a:srgbClr val="000000"/>
                </a:solidFill>
                <a:latin typeface="Aptos"/>
              </a:rPr>
              <a:t>Future Improvements: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Multi-threaded crawling for faster data collection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PageRank or HITS algorithm for link-based ranking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Query suggestion and auto-completion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Snippet generation with keyword highlighting</a:t>
            </a:r>
            <a:br>
              <a:rPr lang="ru-RU" sz="2000">
                <a:latin typeface="Aptos"/>
              </a:rPr>
            </a:br>
            <a:r>
              <a:rPr lang="ru-RU" sz="2000">
                <a:solidFill>
                  <a:srgbClr val="000000"/>
                </a:solidFill>
                <a:latin typeface="Aptos"/>
              </a:rPr>
              <a:t>  - Support for non-English content and multi-language search</a:t>
            </a:r>
            <a:endParaRPr lang="ru-RU" sz="2000"/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55956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宽屏</PresentationFormat>
  <Slides>13</Slides>
  <Notes>1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Theme</vt:lpstr>
      <vt:lpstr>CSIT5930 Search Engine</vt:lpstr>
      <vt:lpstr>System Architecture Overview</vt:lpstr>
      <vt:lpstr>Index Database File Structure</vt:lpstr>
      <vt:lpstr>Core Algorithms - Text Preprocessing</vt:lpstr>
      <vt:lpstr>Core Algorithms - TF-IDF and Cosine Similarity</vt:lpstr>
      <vt:lpstr>Core Algorithms - Phrase Search</vt:lpstr>
      <vt:lpstr>BFS Crawling Strategy</vt:lpstr>
      <vt:lpstr>Crawler Profiling</vt:lpstr>
      <vt:lpstr>Crawler Profiling</vt:lpstr>
      <vt:lpstr>Installation and Running Steps</vt:lpstr>
      <vt:lpstr>Enhancement - Get Similar Pages</vt:lpstr>
      <vt:lpstr>Test Results and Demo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2026-04-21T10:08:30Z</dcterms:created>
  <dcterms:modified xsi:type="dcterms:W3CDTF">2026-04-25T16:43:59Z</dcterms:modified>
</cp:coreProperties>
</file>